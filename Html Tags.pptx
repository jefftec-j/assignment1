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9" r:id="rId1"/>
  </p:sldMasterIdLst>
  <p:sldIdLst>
    <p:sldId id="258" r:id="rId2"/>
    <p:sldId id="257" r:id="rId3"/>
    <p:sldId id="259" r:id="rId4"/>
    <p:sldId id="260" r:id="rId5"/>
    <p:sldId id="261" r:id="rId6"/>
    <p:sldId id="262" r:id="rId7"/>
    <p:sldId id="263" r:id="rId8"/>
    <p:sldId id="264" r:id="rId9"/>
    <p:sldId id="266"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FD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di Jeff" userId="e450e439545a09fd" providerId="LiveId" clId="{93003896-0F2A-4FFA-B9A3-C7FC09B48E23}"/>
    <pc:docChg chg="modSld modMainMaster">
      <pc:chgData name="Ndi Jeff" userId="e450e439545a09fd" providerId="LiveId" clId="{93003896-0F2A-4FFA-B9A3-C7FC09B48E23}" dt="2026-03-04T16:11:40.354" v="7"/>
      <pc:docMkLst>
        <pc:docMk/>
      </pc:docMkLst>
      <pc:sldChg chg="modTransition">
        <pc:chgData name="Ndi Jeff" userId="e450e439545a09fd" providerId="LiveId" clId="{93003896-0F2A-4FFA-B9A3-C7FC09B48E23}" dt="2026-03-04T16:11:40.354" v="7"/>
        <pc:sldMkLst>
          <pc:docMk/>
          <pc:sldMk cId="1353551422" sldId="257"/>
        </pc:sldMkLst>
      </pc:sldChg>
      <pc:sldChg chg="modTransition">
        <pc:chgData name="Ndi Jeff" userId="e450e439545a09fd" providerId="LiveId" clId="{93003896-0F2A-4FFA-B9A3-C7FC09B48E23}" dt="2026-03-04T16:11:40.354" v="7"/>
        <pc:sldMkLst>
          <pc:docMk/>
          <pc:sldMk cId="2809092270" sldId="258"/>
        </pc:sldMkLst>
      </pc:sldChg>
      <pc:sldChg chg="modTransition">
        <pc:chgData name="Ndi Jeff" userId="e450e439545a09fd" providerId="LiveId" clId="{93003896-0F2A-4FFA-B9A3-C7FC09B48E23}" dt="2026-03-04T16:11:40.354" v="7"/>
        <pc:sldMkLst>
          <pc:docMk/>
          <pc:sldMk cId="67034498" sldId="259"/>
        </pc:sldMkLst>
      </pc:sldChg>
      <pc:sldChg chg="modTransition">
        <pc:chgData name="Ndi Jeff" userId="e450e439545a09fd" providerId="LiveId" clId="{93003896-0F2A-4FFA-B9A3-C7FC09B48E23}" dt="2026-03-04T16:11:40.354" v="7"/>
        <pc:sldMkLst>
          <pc:docMk/>
          <pc:sldMk cId="2543323912" sldId="260"/>
        </pc:sldMkLst>
      </pc:sldChg>
      <pc:sldChg chg="modTransition">
        <pc:chgData name="Ndi Jeff" userId="e450e439545a09fd" providerId="LiveId" clId="{93003896-0F2A-4FFA-B9A3-C7FC09B48E23}" dt="2026-03-04T16:11:40.354" v="7"/>
        <pc:sldMkLst>
          <pc:docMk/>
          <pc:sldMk cId="2193485397" sldId="261"/>
        </pc:sldMkLst>
      </pc:sldChg>
      <pc:sldChg chg="modTransition">
        <pc:chgData name="Ndi Jeff" userId="e450e439545a09fd" providerId="LiveId" clId="{93003896-0F2A-4FFA-B9A3-C7FC09B48E23}" dt="2026-03-04T16:11:40.354" v="7"/>
        <pc:sldMkLst>
          <pc:docMk/>
          <pc:sldMk cId="2984887914" sldId="262"/>
        </pc:sldMkLst>
      </pc:sldChg>
      <pc:sldChg chg="modTransition">
        <pc:chgData name="Ndi Jeff" userId="e450e439545a09fd" providerId="LiveId" clId="{93003896-0F2A-4FFA-B9A3-C7FC09B48E23}" dt="2026-03-04T16:11:40.354" v="7"/>
        <pc:sldMkLst>
          <pc:docMk/>
          <pc:sldMk cId="3556943365" sldId="263"/>
        </pc:sldMkLst>
      </pc:sldChg>
      <pc:sldChg chg="modTransition">
        <pc:chgData name="Ndi Jeff" userId="e450e439545a09fd" providerId="LiveId" clId="{93003896-0F2A-4FFA-B9A3-C7FC09B48E23}" dt="2026-03-04T16:11:40.354" v="7"/>
        <pc:sldMkLst>
          <pc:docMk/>
          <pc:sldMk cId="1765231130" sldId="264"/>
        </pc:sldMkLst>
      </pc:sldChg>
      <pc:sldChg chg="modTransition">
        <pc:chgData name="Ndi Jeff" userId="e450e439545a09fd" providerId="LiveId" clId="{93003896-0F2A-4FFA-B9A3-C7FC09B48E23}" dt="2026-03-04T16:11:40.354" v="7"/>
        <pc:sldMkLst>
          <pc:docMk/>
          <pc:sldMk cId="3448439479" sldId="265"/>
        </pc:sldMkLst>
      </pc:sldChg>
      <pc:sldChg chg="modTransition">
        <pc:chgData name="Ndi Jeff" userId="e450e439545a09fd" providerId="LiveId" clId="{93003896-0F2A-4FFA-B9A3-C7FC09B48E23}" dt="2026-03-04T16:11:40.354" v="7"/>
        <pc:sldMkLst>
          <pc:docMk/>
          <pc:sldMk cId="534824355" sldId="266"/>
        </pc:sldMkLst>
      </pc:sldChg>
      <pc:sldMasterChg chg="modTransition modSldLayout">
        <pc:chgData name="Ndi Jeff" userId="e450e439545a09fd" providerId="LiveId" clId="{93003896-0F2A-4FFA-B9A3-C7FC09B48E23}" dt="2026-03-04T16:11:40.354" v="7"/>
        <pc:sldMasterMkLst>
          <pc:docMk/>
          <pc:sldMasterMk cId="2262025726" sldId="2147483929"/>
        </pc:sldMasterMkLst>
        <pc:sldLayoutChg chg="modTransition">
          <pc:chgData name="Ndi Jeff" userId="e450e439545a09fd" providerId="LiveId" clId="{93003896-0F2A-4FFA-B9A3-C7FC09B48E23}" dt="2026-03-04T16:11:40.354" v="7"/>
          <pc:sldLayoutMkLst>
            <pc:docMk/>
            <pc:sldMasterMk cId="2262025726" sldId="2147483929"/>
            <pc:sldLayoutMk cId="1030690731" sldId="2147483930"/>
          </pc:sldLayoutMkLst>
        </pc:sldLayoutChg>
        <pc:sldLayoutChg chg="modTransition">
          <pc:chgData name="Ndi Jeff" userId="e450e439545a09fd" providerId="LiveId" clId="{93003896-0F2A-4FFA-B9A3-C7FC09B48E23}" dt="2026-03-04T16:11:40.354" v="7"/>
          <pc:sldLayoutMkLst>
            <pc:docMk/>
            <pc:sldMasterMk cId="2262025726" sldId="2147483929"/>
            <pc:sldLayoutMk cId="1906408096" sldId="2147483931"/>
          </pc:sldLayoutMkLst>
        </pc:sldLayoutChg>
        <pc:sldLayoutChg chg="modTransition">
          <pc:chgData name="Ndi Jeff" userId="e450e439545a09fd" providerId="LiveId" clId="{93003896-0F2A-4FFA-B9A3-C7FC09B48E23}" dt="2026-03-04T16:11:40.354" v="7"/>
          <pc:sldLayoutMkLst>
            <pc:docMk/>
            <pc:sldMasterMk cId="2262025726" sldId="2147483929"/>
            <pc:sldLayoutMk cId="3650101617" sldId="2147483932"/>
          </pc:sldLayoutMkLst>
        </pc:sldLayoutChg>
        <pc:sldLayoutChg chg="modTransition">
          <pc:chgData name="Ndi Jeff" userId="e450e439545a09fd" providerId="LiveId" clId="{93003896-0F2A-4FFA-B9A3-C7FC09B48E23}" dt="2026-03-04T16:11:40.354" v="7"/>
          <pc:sldLayoutMkLst>
            <pc:docMk/>
            <pc:sldMasterMk cId="2262025726" sldId="2147483929"/>
            <pc:sldLayoutMk cId="3680650404" sldId="2147483933"/>
          </pc:sldLayoutMkLst>
        </pc:sldLayoutChg>
        <pc:sldLayoutChg chg="modTransition">
          <pc:chgData name="Ndi Jeff" userId="e450e439545a09fd" providerId="LiveId" clId="{93003896-0F2A-4FFA-B9A3-C7FC09B48E23}" dt="2026-03-04T16:11:40.354" v="7"/>
          <pc:sldLayoutMkLst>
            <pc:docMk/>
            <pc:sldMasterMk cId="2262025726" sldId="2147483929"/>
            <pc:sldLayoutMk cId="204931543" sldId="2147483934"/>
          </pc:sldLayoutMkLst>
        </pc:sldLayoutChg>
        <pc:sldLayoutChg chg="modTransition">
          <pc:chgData name="Ndi Jeff" userId="e450e439545a09fd" providerId="LiveId" clId="{93003896-0F2A-4FFA-B9A3-C7FC09B48E23}" dt="2026-03-04T16:11:40.354" v="7"/>
          <pc:sldLayoutMkLst>
            <pc:docMk/>
            <pc:sldMasterMk cId="2262025726" sldId="2147483929"/>
            <pc:sldLayoutMk cId="2656480471" sldId="2147483935"/>
          </pc:sldLayoutMkLst>
        </pc:sldLayoutChg>
        <pc:sldLayoutChg chg="modTransition">
          <pc:chgData name="Ndi Jeff" userId="e450e439545a09fd" providerId="LiveId" clId="{93003896-0F2A-4FFA-B9A3-C7FC09B48E23}" dt="2026-03-04T16:11:40.354" v="7"/>
          <pc:sldLayoutMkLst>
            <pc:docMk/>
            <pc:sldMasterMk cId="2262025726" sldId="2147483929"/>
            <pc:sldLayoutMk cId="3223036386" sldId="2147483936"/>
          </pc:sldLayoutMkLst>
        </pc:sldLayoutChg>
        <pc:sldLayoutChg chg="modTransition">
          <pc:chgData name="Ndi Jeff" userId="e450e439545a09fd" providerId="LiveId" clId="{93003896-0F2A-4FFA-B9A3-C7FC09B48E23}" dt="2026-03-04T16:11:40.354" v="7"/>
          <pc:sldLayoutMkLst>
            <pc:docMk/>
            <pc:sldMasterMk cId="2262025726" sldId="2147483929"/>
            <pc:sldLayoutMk cId="3032810439" sldId="2147483937"/>
          </pc:sldLayoutMkLst>
        </pc:sldLayoutChg>
        <pc:sldLayoutChg chg="modTransition">
          <pc:chgData name="Ndi Jeff" userId="e450e439545a09fd" providerId="LiveId" clId="{93003896-0F2A-4FFA-B9A3-C7FC09B48E23}" dt="2026-03-04T16:11:40.354" v="7"/>
          <pc:sldLayoutMkLst>
            <pc:docMk/>
            <pc:sldMasterMk cId="2262025726" sldId="2147483929"/>
            <pc:sldLayoutMk cId="1240301467" sldId="2147483938"/>
          </pc:sldLayoutMkLst>
        </pc:sldLayoutChg>
        <pc:sldLayoutChg chg="modTransition">
          <pc:chgData name="Ndi Jeff" userId="e450e439545a09fd" providerId="LiveId" clId="{93003896-0F2A-4FFA-B9A3-C7FC09B48E23}" dt="2026-03-04T16:11:40.354" v="7"/>
          <pc:sldLayoutMkLst>
            <pc:docMk/>
            <pc:sldMasterMk cId="2262025726" sldId="2147483929"/>
            <pc:sldLayoutMk cId="566437311" sldId="2147483939"/>
          </pc:sldLayoutMkLst>
        </pc:sldLayoutChg>
        <pc:sldLayoutChg chg="modTransition">
          <pc:chgData name="Ndi Jeff" userId="e450e439545a09fd" providerId="LiveId" clId="{93003896-0F2A-4FFA-B9A3-C7FC09B48E23}" dt="2026-03-04T16:11:40.354" v="7"/>
          <pc:sldLayoutMkLst>
            <pc:docMk/>
            <pc:sldMasterMk cId="2262025726" sldId="2147483929"/>
            <pc:sldLayoutMk cId="1735123745" sldId="2147483940"/>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65CD4E-75BF-4C8E-8DBD-8036F8EED80A}" type="datetimeFigureOut">
              <a:rPr lang="en-US" smtClean="0"/>
              <a:t>3/4/2026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B11B7754-6817-498B-9C14-422015A0088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0690731"/>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65CD4E-75BF-4C8E-8DBD-8036F8EED80A}"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1B7754-6817-498B-9C14-422015A0088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06408096"/>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65CD4E-75BF-4C8E-8DBD-8036F8EED80A}"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1B7754-6817-498B-9C14-422015A0088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0101617"/>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65CD4E-75BF-4C8E-8DBD-8036F8EED80A}"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1B7754-6817-498B-9C14-422015A0088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80650404"/>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65CD4E-75BF-4C8E-8DBD-8036F8EED80A}"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1B7754-6817-498B-9C14-422015A0088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4931543"/>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65CD4E-75BF-4C8E-8DBD-8036F8EED80A}"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1B7754-6817-498B-9C14-422015A0088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6480471"/>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65CD4E-75BF-4C8E-8DBD-8036F8EED80A}"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1B7754-6817-498B-9C14-422015A00887}" type="slidenum">
              <a:rPr lang="en-US" smtClean="0"/>
              <a:t>‹#›</a:t>
            </a:fld>
            <a:endParaRPr lang="en-US"/>
          </a:p>
        </p:txBody>
      </p:sp>
    </p:spTree>
    <p:extLst>
      <p:ext uri="{BB962C8B-B14F-4D97-AF65-F5344CB8AC3E}">
        <p14:creationId xmlns:p14="http://schemas.microsoft.com/office/powerpoint/2010/main" val="3223036386"/>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65CD4E-75BF-4C8E-8DBD-8036F8EED80A}"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1B7754-6817-498B-9C14-422015A0088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2810439"/>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F65CD4E-75BF-4C8E-8DBD-8036F8EED80A}" type="datetimeFigureOut">
              <a:rPr lang="en-US" smtClean="0"/>
              <a:t>3/4/2026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B11B7754-6817-498B-9C14-422015A0088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0301467"/>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65CD4E-75BF-4C8E-8DBD-8036F8EED80A}"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1B7754-6817-498B-9C14-422015A0088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66437311"/>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65CD4E-75BF-4C8E-8DBD-8036F8EED80A}"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1B7754-6817-498B-9C14-422015A0088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5123745"/>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F65CD4E-75BF-4C8E-8DBD-8036F8EED80A}" type="datetimeFigureOut">
              <a:rPr lang="en-US" smtClean="0"/>
              <a:t>3/4/2026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11B7754-6817-498B-9C14-422015A0088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2025726"/>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Lst>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5249D8-E7C2-B93E-B1BA-B0F7699365DC}"/>
              </a:ext>
            </a:extLst>
          </p:cNvPr>
          <p:cNvSpPr txBox="1"/>
          <p:nvPr/>
        </p:nvSpPr>
        <p:spPr>
          <a:xfrm>
            <a:off x="91440" y="142240"/>
            <a:ext cx="12110720" cy="6801862"/>
          </a:xfrm>
          <a:prstGeom prst="rect">
            <a:avLst/>
          </a:prstGeom>
          <a:noFill/>
        </p:spPr>
        <p:txBody>
          <a:bodyPr wrap="square" rtlCol="0">
            <a:spAutoFit/>
          </a:bodyPr>
          <a:lstStyle/>
          <a:p>
            <a:pPr algn="ctr"/>
            <a:endParaRPr lang="en-US" sz="4400" dirty="0"/>
          </a:p>
          <a:p>
            <a:pPr algn="ctr"/>
            <a:r>
              <a:rPr lang="en-US" sz="4400" dirty="0"/>
              <a:t>Title:</a:t>
            </a:r>
            <a:r>
              <a:rPr lang="en-US" sz="5400" dirty="0">
                <a:solidFill>
                  <a:srgbClr val="FF0000"/>
                </a:solidFill>
              </a:rPr>
              <a:t> </a:t>
            </a:r>
            <a:r>
              <a:rPr lang="en-US" sz="5400" dirty="0" err="1">
                <a:solidFill>
                  <a:srgbClr val="FF0000"/>
                </a:solidFill>
              </a:rPr>
              <a:t>Essencial</a:t>
            </a:r>
            <a:r>
              <a:rPr lang="en-US" sz="5400" dirty="0">
                <a:solidFill>
                  <a:srgbClr val="FF0000"/>
                </a:solidFill>
              </a:rPr>
              <a:t> HTML Tags And Their Use Cases</a:t>
            </a:r>
          </a:p>
          <a:p>
            <a:pPr algn="ctr"/>
            <a:endParaRPr lang="en-US" sz="5400" dirty="0">
              <a:solidFill>
                <a:srgbClr val="FF0000"/>
              </a:solidFill>
            </a:endParaRPr>
          </a:p>
          <a:p>
            <a:pPr marL="285750" indent="-285750" algn="just">
              <a:buFont typeface="Wingdings" panose="05000000000000000000" pitchFamily="2" charset="2"/>
              <a:buChar char="v"/>
            </a:pPr>
            <a:r>
              <a:rPr lang="en-US" sz="5400" dirty="0">
                <a:latin typeface="Arial Narrow" panose="020B0606020202030204" pitchFamily="34" charset="0"/>
              </a:rPr>
              <a:t>Presented by</a:t>
            </a:r>
            <a:r>
              <a:rPr lang="en-US" sz="4400" dirty="0">
                <a:latin typeface="Arial Narrow" panose="020B0606020202030204" pitchFamily="34" charset="0"/>
              </a:rPr>
              <a:t>: [ </a:t>
            </a:r>
            <a:r>
              <a:rPr lang="en-US" sz="4400" dirty="0" err="1">
                <a:latin typeface="Arial Narrow" panose="020B0606020202030204" pitchFamily="34" charset="0"/>
              </a:rPr>
              <a:t>Ndiwapit</a:t>
            </a:r>
            <a:r>
              <a:rPr lang="en-US" sz="4400" dirty="0">
                <a:latin typeface="Arial Narrow" panose="020B0606020202030204" pitchFamily="34" charset="0"/>
              </a:rPr>
              <a:t>  Jephthah].</a:t>
            </a:r>
          </a:p>
          <a:p>
            <a:pPr marL="285750" indent="-285750" algn="just">
              <a:buFont typeface="Wingdings" panose="05000000000000000000" pitchFamily="2" charset="2"/>
              <a:buChar char="v"/>
            </a:pPr>
            <a:endParaRPr lang="en-US" sz="4400" dirty="0">
              <a:latin typeface="Arial Narrow" panose="020B0606020202030204" pitchFamily="34" charset="0"/>
            </a:endParaRPr>
          </a:p>
          <a:p>
            <a:pPr marL="285750" indent="-285750" algn="just">
              <a:buFont typeface="Wingdings" panose="05000000000000000000" pitchFamily="2" charset="2"/>
              <a:buChar char="v"/>
            </a:pPr>
            <a:r>
              <a:rPr lang="en-US" sz="4400" dirty="0">
                <a:latin typeface="Arial Narrow" panose="020B0606020202030204" pitchFamily="34" charset="0"/>
              </a:rPr>
              <a:t>School: CITECHITM University.</a:t>
            </a:r>
          </a:p>
          <a:p>
            <a:pPr marL="285750" indent="-285750" algn="just">
              <a:buFont typeface="Wingdings" panose="05000000000000000000" pitchFamily="2" charset="2"/>
              <a:buChar char="v"/>
            </a:pPr>
            <a:endParaRPr lang="en-US" sz="4400" dirty="0">
              <a:latin typeface="Arial Narrow" panose="020B0606020202030204" pitchFamily="34" charset="0"/>
            </a:endParaRPr>
          </a:p>
          <a:p>
            <a:pPr marL="685800" indent="-685800" algn="just">
              <a:buFont typeface="Wingdings" panose="05000000000000000000" pitchFamily="2" charset="2"/>
              <a:buChar char="v"/>
            </a:pPr>
            <a:r>
              <a:rPr lang="en-US" sz="4400" dirty="0">
                <a:latin typeface="Arial Narrow" panose="020B0606020202030204" pitchFamily="34" charset="0"/>
              </a:rPr>
              <a:t>Course: Introduction To Web Development</a:t>
            </a:r>
            <a:r>
              <a:rPr lang="en-US" sz="4400" dirty="0"/>
              <a:t>.</a:t>
            </a:r>
            <a:endParaRPr lang="en-US" sz="1400" dirty="0"/>
          </a:p>
        </p:txBody>
      </p:sp>
    </p:spTree>
    <p:extLst>
      <p:ext uri="{BB962C8B-B14F-4D97-AF65-F5344CB8AC3E}">
        <p14:creationId xmlns:p14="http://schemas.microsoft.com/office/powerpoint/2010/main" val="2809092270"/>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46889C6-73A7-5549-55CC-FD7636A161EA}"/>
              </a:ext>
            </a:extLst>
          </p:cNvPr>
          <p:cNvSpPr txBox="1"/>
          <p:nvPr/>
        </p:nvSpPr>
        <p:spPr>
          <a:xfrm>
            <a:off x="436880" y="1239520"/>
            <a:ext cx="11755120" cy="4832092"/>
          </a:xfrm>
          <a:prstGeom prst="rect">
            <a:avLst/>
          </a:prstGeom>
          <a:noFill/>
        </p:spPr>
        <p:txBody>
          <a:bodyPr wrap="square">
            <a:spAutoFit/>
          </a:bodyPr>
          <a:lstStyle/>
          <a:p>
            <a:r>
              <a:rPr lang="en-US" sz="2800" dirty="0"/>
              <a:t>HTML tags are special keywords used to create and structure content on web pages. They tell the browser how to display text, images, links, and other elements . </a:t>
            </a:r>
          </a:p>
          <a:p>
            <a:endParaRPr lang="en-US" sz="2800" dirty="0"/>
          </a:p>
          <a:p>
            <a:r>
              <a:rPr lang="en-US" sz="2800" b="1" dirty="0">
                <a:solidFill>
                  <a:srgbClr val="FF0000"/>
                </a:solidFill>
              </a:rPr>
              <a:t>Tags are written inside angle brackets:</a:t>
            </a:r>
          </a:p>
          <a:p>
            <a:r>
              <a:rPr lang="en-US" sz="2800" dirty="0"/>
              <a:t>&lt;tag name&gt;Content&lt;/tag name&gt;</a:t>
            </a:r>
          </a:p>
          <a:p>
            <a:endParaRPr lang="en-US" sz="2800" dirty="0"/>
          </a:p>
          <a:p>
            <a:r>
              <a:rPr lang="en-US" sz="2800" b="1" dirty="0">
                <a:solidFill>
                  <a:srgbClr val="FF0000"/>
                </a:solidFill>
              </a:rPr>
              <a:t>Most HTML tags come in pairs</a:t>
            </a:r>
            <a:r>
              <a:rPr lang="en-US" sz="2800" dirty="0">
                <a:solidFill>
                  <a:srgbClr val="FF0000"/>
                </a:solidFill>
              </a:rPr>
              <a:t>:</a:t>
            </a:r>
          </a:p>
          <a:p>
            <a:r>
              <a:rPr lang="en-US" sz="2800" dirty="0"/>
              <a:t>Opening tag: &lt;p&gt;</a:t>
            </a:r>
          </a:p>
          <a:p>
            <a:r>
              <a:rPr lang="en-US" sz="2800" dirty="0"/>
              <a:t>Closing tag: &lt;/p&gt; (note the /)</a:t>
            </a:r>
          </a:p>
          <a:p>
            <a:endParaRPr lang="en-US" sz="2800" dirty="0"/>
          </a:p>
        </p:txBody>
      </p:sp>
      <p:sp>
        <p:nvSpPr>
          <p:cNvPr id="8" name="TextBox 7">
            <a:extLst>
              <a:ext uri="{FF2B5EF4-FFF2-40B4-BE49-F238E27FC236}">
                <a16:creationId xmlns:a16="http://schemas.microsoft.com/office/drawing/2014/main" id="{A358002B-F255-3A5E-E721-CBEFA888F371}"/>
              </a:ext>
            </a:extLst>
          </p:cNvPr>
          <p:cNvSpPr txBox="1"/>
          <p:nvPr/>
        </p:nvSpPr>
        <p:spPr>
          <a:xfrm>
            <a:off x="203200" y="284481"/>
            <a:ext cx="3413760" cy="523220"/>
          </a:xfrm>
          <a:prstGeom prst="rect">
            <a:avLst/>
          </a:prstGeom>
          <a:noFill/>
        </p:spPr>
        <p:txBody>
          <a:bodyPr wrap="square" rtlCol="0">
            <a:spAutoFit/>
          </a:bodyPr>
          <a:lstStyle/>
          <a:p>
            <a:r>
              <a:rPr lang="en-US" sz="2800" dirty="0">
                <a:solidFill>
                  <a:srgbClr val="FF0000"/>
                </a:solidFill>
                <a:latin typeface="Arial Black" panose="020B0A04020102020204" pitchFamily="34" charset="0"/>
              </a:rPr>
              <a:t>INTRODUCTION</a:t>
            </a:r>
            <a:endParaRPr lang="en-US"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1353551422"/>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EF1E46-5BB1-F7E6-79EF-0C311BD39228}"/>
              </a:ext>
            </a:extLst>
          </p:cNvPr>
          <p:cNvSpPr txBox="1"/>
          <p:nvPr/>
        </p:nvSpPr>
        <p:spPr>
          <a:xfrm>
            <a:off x="254000" y="304800"/>
            <a:ext cx="11775440" cy="6771084"/>
          </a:xfrm>
          <a:prstGeom prst="rect">
            <a:avLst/>
          </a:prstGeom>
          <a:noFill/>
        </p:spPr>
        <p:txBody>
          <a:bodyPr wrap="square" rtlCol="0">
            <a:spAutoFit/>
          </a:bodyPr>
          <a:lstStyle/>
          <a:p>
            <a:pPr marL="571500" indent="-571500">
              <a:buFont typeface="Wingdings" panose="05000000000000000000" pitchFamily="2" charset="2"/>
              <a:buChar char="v"/>
            </a:pPr>
            <a:r>
              <a:rPr lang="en-US" sz="3600" dirty="0">
                <a:solidFill>
                  <a:srgbClr val="FF0000"/>
                </a:solidFill>
              </a:rPr>
              <a:t>&lt;html&gt;:</a:t>
            </a:r>
            <a:r>
              <a:rPr lang="en-US" sz="3600" dirty="0"/>
              <a:t> </a:t>
            </a:r>
          </a:p>
          <a:p>
            <a:r>
              <a:rPr lang="en-US" sz="2800" dirty="0"/>
              <a:t>Defines the root of an HTML document, wrapping all other elements and telling the browser that it's an HTML file. Used in every webpage to define the start and end of the HTML document.</a:t>
            </a:r>
          </a:p>
          <a:p>
            <a:r>
              <a:rPr lang="en-US" sz="2800" dirty="0">
                <a:solidFill>
                  <a:srgbClr val="C00000"/>
                </a:solidFill>
              </a:rPr>
              <a:t>Example:</a:t>
            </a:r>
            <a:r>
              <a:rPr lang="en-US" sz="2800" dirty="0"/>
              <a:t> </a:t>
            </a:r>
          </a:p>
          <a:p>
            <a:r>
              <a:rPr lang="en-US" sz="2000" dirty="0">
                <a:solidFill>
                  <a:srgbClr val="00B050"/>
                </a:solidFill>
              </a:rPr>
              <a:t>&lt;html&gt;</a:t>
            </a:r>
          </a:p>
          <a:p>
            <a:r>
              <a:rPr lang="en-US" sz="2000" dirty="0">
                <a:solidFill>
                  <a:srgbClr val="00B050"/>
                </a:solidFill>
              </a:rPr>
              <a:t>  &lt;!-- All webpage content goes here --&gt;</a:t>
            </a:r>
          </a:p>
          <a:p>
            <a:r>
              <a:rPr lang="en-US" sz="2000" dirty="0">
                <a:solidFill>
                  <a:srgbClr val="00B050"/>
                </a:solidFill>
              </a:rPr>
              <a:t>&lt;/html&gt;</a:t>
            </a:r>
          </a:p>
          <a:p>
            <a:endParaRPr lang="en-US" dirty="0"/>
          </a:p>
          <a:p>
            <a:pPr marL="571500" indent="-571500">
              <a:buFont typeface="Wingdings" panose="05000000000000000000" pitchFamily="2" charset="2"/>
              <a:buChar char="v"/>
            </a:pPr>
            <a:r>
              <a:rPr lang="en-US" sz="3600" dirty="0">
                <a:solidFill>
                  <a:srgbClr val="FF0000"/>
                </a:solidFill>
              </a:rPr>
              <a:t>&lt;head&gt;:</a:t>
            </a:r>
            <a:r>
              <a:rPr lang="en-US" dirty="0"/>
              <a:t> </a:t>
            </a:r>
          </a:p>
          <a:p>
            <a:r>
              <a:rPr lang="en-US" sz="2800" dirty="0"/>
              <a:t>Contains metadata about the document, such as the page title, links to stylesheets, and character set information. The content within this tag is not visible on the web page itself.</a:t>
            </a:r>
          </a:p>
          <a:p>
            <a:r>
              <a:rPr lang="en-US" sz="2800" dirty="0">
                <a:solidFill>
                  <a:srgbClr val="C00000"/>
                </a:solidFill>
              </a:rPr>
              <a:t>Example:</a:t>
            </a:r>
          </a:p>
          <a:p>
            <a:r>
              <a:rPr lang="en-US" dirty="0">
                <a:solidFill>
                  <a:srgbClr val="C00000"/>
                </a:solidFill>
              </a:rPr>
              <a:t> </a:t>
            </a:r>
            <a:r>
              <a:rPr lang="en-US" sz="2000" dirty="0">
                <a:solidFill>
                  <a:srgbClr val="00B050"/>
                </a:solidFill>
              </a:rPr>
              <a:t>&lt;head&gt;</a:t>
            </a:r>
          </a:p>
          <a:p>
            <a:r>
              <a:rPr lang="en-US" sz="2000" dirty="0">
                <a:solidFill>
                  <a:srgbClr val="00B050"/>
                </a:solidFill>
              </a:rPr>
              <a:t>  &lt;title&gt;My Website&lt;/title&gt;</a:t>
            </a:r>
          </a:p>
          <a:p>
            <a:r>
              <a:rPr lang="en-US" sz="2000" dirty="0">
                <a:solidFill>
                  <a:srgbClr val="00B050"/>
                </a:solidFill>
              </a:rPr>
              <a:t>&lt;/head&gt;</a:t>
            </a:r>
            <a:endParaRPr lang="en-US" dirty="0">
              <a:solidFill>
                <a:srgbClr val="00B050"/>
              </a:solidFill>
            </a:endParaRPr>
          </a:p>
        </p:txBody>
      </p:sp>
    </p:spTree>
    <p:extLst>
      <p:ext uri="{BB962C8B-B14F-4D97-AF65-F5344CB8AC3E}">
        <p14:creationId xmlns:p14="http://schemas.microsoft.com/office/powerpoint/2010/main" val="67034498"/>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33AB-9221-3A0B-FBF9-C82A195358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BCD01E-FFE4-940E-D8A6-BE727FF72AC6}"/>
              </a:ext>
            </a:extLst>
          </p:cNvPr>
          <p:cNvSpPr txBox="1"/>
          <p:nvPr/>
        </p:nvSpPr>
        <p:spPr>
          <a:xfrm>
            <a:off x="0" y="0"/>
            <a:ext cx="12192000" cy="8156079"/>
          </a:xfrm>
          <a:prstGeom prst="rect">
            <a:avLst/>
          </a:prstGeom>
          <a:noFill/>
        </p:spPr>
        <p:txBody>
          <a:bodyPr wrap="square" rtlCol="0">
            <a:spAutoFit/>
          </a:bodyPr>
          <a:lstStyle/>
          <a:p>
            <a:endParaRPr lang="en-US" sz="3200" dirty="0">
              <a:solidFill>
                <a:srgbClr val="FF0000"/>
              </a:solidFill>
            </a:endParaRPr>
          </a:p>
          <a:p>
            <a:pPr marL="457200" indent="-457200">
              <a:buFont typeface="Wingdings" panose="05000000000000000000" pitchFamily="2" charset="2"/>
              <a:buChar char="v"/>
            </a:pPr>
            <a:r>
              <a:rPr lang="en-US" sz="3200" dirty="0">
                <a:solidFill>
                  <a:srgbClr val="FF0000"/>
                </a:solidFill>
              </a:rPr>
              <a:t>&lt;body&gt;: </a:t>
            </a:r>
          </a:p>
          <a:p>
            <a:r>
              <a:rPr lang="en-US" sz="3200" dirty="0">
                <a:solidFill>
                  <a:srgbClr val="FF0000"/>
                </a:solidFill>
              </a:rPr>
              <a:t> </a:t>
            </a:r>
            <a:r>
              <a:rPr lang="en-US" sz="2800" dirty="0"/>
              <a:t>Contains all visible content like text, images, and buttons. Used to display content users interact with. </a:t>
            </a:r>
          </a:p>
          <a:p>
            <a:r>
              <a:rPr lang="en-US" sz="2800" dirty="0">
                <a:solidFill>
                  <a:srgbClr val="C00000"/>
                </a:solidFill>
              </a:rPr>
              <a:t>Example:</a:t>
            </a:r>
          </a:p>
          <a:p>
            <a:r>
              <a:rPr lang="en-US" sz="2000" dirty="0">
                <a:solidFill>
                  <a:srgbClr val="00B050"/>
                </a:solidFill>
              </a:rPr>
              <a:t>&lt;body&gt;</a:t>
            </a:r>
          </a:p>
          <a:p>
            <a:r>
              <a:rPr lang="en-US" sz="2000" dirty="0">
                <a:solidFill>
                  <a:srgbClr val="00B050"/>
                </a:solidFill>
              </a:rPr>
              <a:t>  &lt;h1&gt;Hello World&lt;/h1&gt;</a:t>
            </a:r>
          </a:p>
          <a:p>
            <a:r>
              <a:rPr lang="en-US" sz="2000" dirty="0">
                <a:solidFill>
                  <a:srgbClr val="00B050"/>
                </a:solidFill>
              </a:rPr>
              <a:t>&lt;/body&gt;</a:t>
            </a:r>
          </a:p>
          <a:p>
            <a:endParaRPr lang="en-US" sz="2000" dirty="0">
              <a:solidFill>
                <a:srgbClr val="00B050"/>
              </a:solidFill>
            </a:endParaRPr>
          </a:p>
          <a:p>
            <a:pPr marL="457200" indent="-457200">
              <a:buFont typeface="Wingdings" panose="05000000000000000000" pitchFamily="2" charset="2"/>
              <a:buChar char="v"/>
            </a:pPr>
            <a:r>
              <a:rPr lang="en-US" sz="3200" dirty="0">
                <a:solidFill>
                  <a:srgbClr val="FF0000"/>
                </a:solidFill>
              </a:rPr>
              <a:t>&lt;h1&gt; to &lt;h6&gt;</a:t>
            </a:r>
            <a:r>
              <a:rPr lang="en-US" sz="2000" dirty="0">
                <a:solidFill>
                  <a:srgbClr val="FF0000"/>
                </a:solidFill>
              </a:rPr>
              <a:t>:</a:t>
            </a:r>
          </a:p>
          <a:p>
            <a:r>
              <a:rPr lang="en-US" sz="2000" dirty="0">
                <a:solidFill>
                  <a:srgbClr val="00B050"/>
                </a:solidFill>
              </a:rPr>
              <a:t> </a:t>
            </a:r>
            <a:r>
              <a:rPr lang="en-US" sz="2800" dirty="0"/>
              <a:t>Define HTML headings, establishing a hierarchy for the page's structure. &lt;h1&gt; is used for the most important heading (usually the main page title), and &lt;h6&gt; is for the least important subheading.</a:t>
            </a:r>
          </a:p>
          <a:p>
            <a:r>
              <a:rPr lang="en-US" sz="2800" dirty="0">
                <a:solidFill>
                  <a:srgbClr val="C00000"/>
                </a:solidFill>
              </a:rPr>
              <a:t>Example:</a:t>
            </a:r>
          </a:p>
          <a:p>
            <a:r>
              <a:rPr lang="en-US" sz="2800" dirty="0">
                <a:solidFill>
                  <a:srgbClr val="00B050"/>
                </a:solidFill>
              </a:rPr>
              <a:t>&lt;h1&gt;About Us&lt;/h1&gt;</a:t>
            </a:r>
          </a:p>
          <a:p>
            <a:endParaRPr lang="en-US" sz="2800" dirty="0">
              <a:solidFill>
                <a:srgbClr val="00B050"/>
              </a:solidFill>
            </a:endParaRPr>
          </a:p>
          <a:p>
            <a:endParaRPr lang="en-US" sz="2800" dirty="0">
              <a:solidFill>
                <a:srgbClr val="FF0000"/>
              </a:solidFill>
            </a:endParaRPr>
          </a:p>
          <a:p>
            <a:endParaRPr lang="en-US" sz="3200" dirty="0">
              <a:solidFill>
                <a:srgbClr val="FF0000"/>
              </a:solidFill>
            </a:endParaRPr>
          </a:p>
          <a:p>
            <a:endParaRPr lang="en-US" sz="3200" dirty="0">
              <a:solidFill>
                <a:srgbClr val="FF0000"/>
              </a:solidFill>
            </a:endParaRPr>
          </a:p>
        </p:txBody>
      </p:sp>
    </p:spTree>
    <p:extLst>
      <p:ext uri="{BB962C8B-B14F-4D97-AF65-F5344CB8AC3E}">
        <p14:creationId xmlns:p14="http://schemas.microsoft.com/office/powerpoint/2010/main" val="2543323912"/>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26F99-3EDC-A703-5F8F-C909BF3648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C9C6DE-A8FA-DD42-0EC8-F92BAE0D659F}"/>
              </a:ext>
            </a:extLst>
          </p:cNvPr>
          <p:cNvSpPr txBox="1"/>
          <p:nvPr/>
        </p:nvSpPr>
        <p:spPr>
          <a:xfrm>
            <a:off x="0" y="0"/>
            <a:ext cx="12080240" cy="5940088"/>
          </a:xfrm>
          <a:prstGeom prst="rect">
            <a:avLst/>
          </a:prstGeom>
          <a:noFill/>
        </p:spPr>
        <p:txBody>
          <a:bodyPr wrap="square" rtlCol="0">
            <a:spAutoFit/>
          </a:bodyPr>
          <a:lstStyle/>
          <a:p>
            <a:endParaRPr lang="en-US" sz="3200" dirty="0">
              <a:solidFill>
                <a:srgbClr val="FF0000"/>
              </a:solidFill>
            </a:endParaRPr>
          </a:p>
          <a:p>
            <a:pPr marL="457200" indent="-457200">
              <a:buFont typeface="Wingdings" panose="05000000000000000000" pitchFamily="2" charset="2"/>
              <a:buChar char="v"/>
            </a:pPr>
            <a:r>
              <a:rPr lang="en-US" sz="3200" b="1" dirty="0">
                <a:solidFill>
                  <a:srgbClr val="FF0000"/>
                </a:solidFill>
              </a:rPr>
              <a:t>&lt;p&gt;:</a:t>
            </a:r>
            <a:r>
              <a:rPr lang="en-US" sz="3200" dirty="0">
                <a:solidFill>
                  <a:srgbClr val="FF0000"/>
                </a:solidFill>
              </a:rPr>
              <a:t> </a:t>
            </a:r>
          </a:p>
          <a:p>
            <a:r>
              <a:rPr lang="en-US" sz="2800" dirty="0"/>
              <a:t>Defines a paragraph of text. Used for writing descriptions, articles, or any text content.</a:t>
            </a:r>
          </a:p>
          <a:p>
            <a:r>
              <a:rPr lang="en-US" sz="2800" dirty="0">
                <a:solidFill>
                  <a:srgbClr val="C00000"/>
                </a:solidFill>
              </a:rPr>
              <a:t>Example:</a:t>
            </a:r>
          </a:p>
          <a:p>
            <a:r>
              <a:rPr lang="en-US" sz="2000" dirty="0">
                <a:solidFill>
                  <a:srgbClr val="00B050"/>
                </a:solidFill>
              </a:rPr>
              <a:t>&lt;p&gt;This is a paragraph of text.&lt;/p&gt;</a:t>
            </a:r>
          </a:p>
          <a:p>
            <a:endParaRPr lang="en-US" sz="2000" dirty="0">
              <a:solidFill>
                <a:srgbClr val="00B050"/>
              </a:solidFill>
            </a:endParaRPr>
          </a:p>
          <a:p>
            <a:endParaRPr lang="en-US" sz="2000" dirty="0">
              <a:solidFill>
                <a:srgbClr val="00B050"/>
              </a:solidFill>
            </a:endParaRPr>
          </a:p>
          <a:p>
            <a:pPr marL="457200" indent="-457200">
              <a:buFont typeface="Wingdings" panose="05000000000000000000" pitchFamily="2" charset="2"/>
              <a:buChar char="v"/>
            </a:pPr>
            <a:r>
              <a:rPr lang="en-US" sz="3200" b="1" dirty="0">
                <a:solidFill>
                  <a:srgbClr val="FF0000"/>
                </a:solidFill>
              </a:rPr>
              <a:t>&lt;a&gt;:</a:t>
            </a:r>
            <a:r>
              <a:rPr lang="en-US" sz="3200" dirty="0">
                <a:solidFill>
                  <a:srgbClr val="FF0000"/>
                </a:solidFill>
              </a:rPr>
              <a:t> </a:t>
            </a:r>
          </a:p>
          <a:p>
            <a:r>
              <a:rPr lang="en-US" sz="2800" dirty="0"/>
              <a:t>Creates a hyperlink, allowing users to navigate to another web page, file, or a specific part of the current page. It uses the </a:t>
            </a:r>
            <a:r>
              <a:rPr lang="en-US" sz="2800" dirty="0" err="1"/>
              <a:t>href</a:t>
            </a:r>
            <a:r>
              <a:rPr lang="en-US" sz="2800" dirty="0"/>
              <a:t> attribute to specify the destination URL.</a:t>
            </a:r>
          </a:p>
          <a:p>
            <a:r>
              <a:rPr lang="en-US" sz="2800" dirty="0">
                <a:solidFill>
                  <a:srgbClr val="C00000"/>
                </a:solidFill>
              </a:rPr>
              <a:t>Example:</a:t>
            </a:r>
          </a:p>
          <a:p>
            <a:r>
              <a:rPr lang="en-US" sz="2800" dirty="0"/>
              <a:t> </a:t>
            </a:r>
            <a:r>
              <a:rPr lang="en-US" sz="2800" dirty="0">
                <a:solidFill>
                  <a:srgbClr val="00B050"/>
                </a:solidFill>
              </a:rPr>
              <a:t>&lt;a </a:t>
            </a:r>
            <a:r>
              <a:rPr lang="en-US" sz="2800" dirty="0" err="1">
                <a:solidFill>
                  <a:srgbClr val="00B050"/>
                </a:solidFill>
              </a:rPr>
              <a:t>href</a:t>
            </a:r>
            <a:r>
              <a:rPr lang="en-US" sz="2800" dirty="0">
                <a:solidFill>
                  <a:srgbClr val="00B050"/>
                </a:solidFill>
              </a:rPr>
              <a:t>="https://example.com"&gt;Visit Example&lt;/a&gt;</a:t>
            </a:r>
          </a:p>
        </p:txBody>
      </p:sp>
    </p:spTree>
    <p:extLst>
      <p:ext uri="{BB962C8B-B14F-4D97-AF65-F5344CB8AC3E}">
        <p14:creationId xmlns:p14="http://schemas.microsoft.com/office/powerpoint/2010/main" val="2193485397"/>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A3794-43C4-086A-271F-460A4EA4CC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D36B4E-C10E-CEFA-9BEB-5B8A19973375}"/>
              </a:ext>
            </a:extLst>
          </p:cNvPr>
          <p:cNvSpPr txBox="1"/>
          <p:nvPr/>
        </p:nvSpPr>
        <p:spPr>
          <a:xfrm>
            <a:off x="0" y="162560"/>
            <a:ext cx="10617200" cy="7417415"/>
          </a:xfrm>
          <a:prstGeom prst="rect">
            <a:avLst/>
          </a:prstGeom>
          <a:noFill/>
        </p:spPr>
        <p:txBody>
          <a:bodyPr wrap="square" rtlCol="0">
            <a:spAutoFit/>
          </a:bodyPr>
          <a:lstStyle/>
          <a:p>
            <a:endParaRPr lang="en-US" sz="3200" dirty="0">
              <a:solidFill>
                <a:srgbClr val="FF0000"/>
              </a:solidFill>
            </a:endParaRPr>
          </a:p>
          <a:p>
            <a:pPr marL="457200" indent="-457200">
              <a:buFont typeface="Wingdings" panose="05000000000000000000" pitchFamily="2" charset="2"/>
              <a:buChar char="v"/>
            </a:pPr>
            <a:r>
              <a:rPr lang="en-US" sz="3200" dirty="0">
                <a:solidFill>
                  <a:srgbClr val="FF0000"/>
                </a:solidFill>
              </a:rPr>
              <a:t>&lt;</a:t>
            </a:r>
            <a:r>
              <a:rPr lang="en-US" sz="3200" dirty="0" err="1">
                <a:solidFill>
                  <a:srgbClr val="FF0000"/>
                </a:solidFill>
              </a:rPr>
              <a:t>ul</a:t>
            </a:r>
            <a:r>
              <a:rPr lang="en-US" sz="3200" dirty="0">
                <a:solidFill>
                  <a:srgbClr val="FF0000"/>
                </a:solidFill>
              </a:rPr>
              <a:t>&gt;:</a:t>
            </a:r>
            <a:r>
              <a:rPr lang="en-US" dirty="0"/>
              <a:t> </a:t>
            </a:r>
            <a:r>
              <a:rPr lang="en-US" sz="2800" dirty="0"/>
              <a:t>Defines an unordered (bulleted) list of items. Each item within the list is specified using the &lt;li&gt; tag.</a:t>
            </a:r>
          </a:p>
          <a:p>
            <a:r>
              <a:rPr lang="en-US" sz="2800" dirty="0">
                <a:solidFill>
                  <a:srgbClr val="C00000"/>
                </a:solidFill>
              </a:rPr>
              <a:t>Example:</a:t>
            </a:r>
          </a:p>
          <a:p>
            <a:r>
              <a:rPr lang="it-IT" sz="2000" dirty="0">
                <a:solidFill>
                  <a:srgbClr val="00B050"/>
                </a:solidFill>
              </a:rPr>
              <a:t>&lt;ul&gt;</a:t>
            </a:r>
          </a:p>
          <a:p>
            <a:r>
              <a:rPr lang="it-IT" sz="2000" dirty="0">
                <a:solidFill>
                  <a:srgbClr val="00B050"/>
                </a:solidFill>
              </a:rPr>
              <a:t>  &lt;li&gt;Item 1&lt;/li&gt;</a:t>
            </a:r>
          </a:p>
          <a:p>
            <a:r>
              <a:rPr lang="it-IT" sz="2000" dirty="0">
                <a:solidFill>
                  <a:srgbClr val="00B050"/>
                </a:solidFill>
              </a:rPr>
              <a:t>  &lt;li&gt;Item 2&lt;/li&gt;</a:t>
            </a:r>
          </a:p>
          <a:p>
            <a:r>
              <a:rPr lang="it-IT" sz="2000" dirty="0">
                <a:solidFill>
                  <a:srgbClr val="00B050"/>
                </a:solidFill>
              </a:rPr>
              <a:t>&lt;/ul&gt;</a:t>
            </a:r>
          </a:p>
          <a:p>
            <a:pPr marL="457200" indent="-457200">
              <a:buFont typeface="Wingdings" panose="05000000000000000000" pitchFamily="2" charset="2"/>
              <a:buChar char="v"/>
            </a:pPr>
            <a:r>
              <a:rPr lang="en-US" sz="3200" dirty="0">
                <a:solidFill>
                  <a:srgbClr val="FF0000"/>
                </a:solidFill>
              </a:rPr>
              <a:t>&lt;div&gt;:</a:t>
            </a:r>
          </a:p>
          <a:p>
            <a:r>
              <a:rPr lang="en-US" dirty="0">
                <a:solidFill>
                  <a:srgbClr val="00B050"/>
                </a:solidFill>
              </a:rPr>
              <a:t> </a:t>
            </a:r>
            <a:r>
              <a:rPr lang="en-US" sz="2800" dirty="0"/>
              <a:t>Defines a division or a section in the document, primarily used as a generic container for grouping other HTML elements for styling with CSS or positioning on the page.</a:t>
            </a:r>
          </a:p>
          <a:p>
            <a:r>
              <a:rPr lang="en-US" sz="2800" dirty="0">
                <a:solidFill>
                  <a:srgbClr val="C00000"/>
                </a:solidFill>
              </a:rPr>
              <a:t>Example:</a:t>
            </a:r>
          </a:p>
          <a:p>
            <a:r>
              <a:rPr lang="en-US" sz="2000" dirty="0">
                <a:solidFill>
                  <a:srgbClr val="00B050"/>
                </a:solidFill>
              </a:rPr>
              <a:t>&lt;div&gt;</a:t>
            </a:r>
          </a:p>
          <a:p>
            <a:r>
              <a:rPr lang="en-US" sz="2000" dirty="0">
                <a:solidFill>
                  <a:srgbClr val="00B050"/>
                </a:solidFill>
              </a:rPr>
              <a:t>  &lt;p&gt;Content inside a div&lt;/p&gt;</a:t>
            </a:r>
          </a:p>
          <a:p>
            <a:r>
              <a:rPr lang="en-US" sz="2000" dirty="0">
                <a:solidFill>
                  <a:srgbClr val="00B050"/>
                </a:solidFill>
              </a:rPr>
              <a:t>&lt;/div&gt;</a:t>
            </a:r>
          </a:p>
          <a:p>
            <a:endParaRPr lang="en-US" dirty="0">
              <a:solidFill>
                <a:srgbClr val="00B050"/>
              </a:solidFill>
            </a:endParaRPr>
          </a:p>
          <a:p>
            <a:endParaRPr lang="en-US" dirty="0">
              <a:solidFill>
                <a:srgbClr val="00B050"/>
              </a:solidFill>
            </a:endParaRPr>
          </a:p>
          <a:p>
            <a:endParaRPr lang="en-US" dirty="0">
              <a:solidFill>
                <a:srgbClr val="00B050"/>
              </a:solidFill>
            </a:endParaRPr>
          </a:p>
          <a:p>
            <a:endParaRPr lang="en-US" dirty="0">
              <a:solidFill>
                <a:srgbClr val="00B050"/>
              </a:solidFill>
            </a:endParaRPr>
          </a:p>
        </p:txBody>
      </p:sp>
    </p:spTree>
    <p:extLst>
      <p:ext uri="{BB962C8B-B14F-4D97-AF65-F5344CB8AC3E}">
        <p14:creationId xmlns:p14="http://schemas.microsoft.com/office/powerpoint/2010/main" val="2984887914"/>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00581-1569-1D33-259C-852473136C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ED71FF-3BDC-79CC-7A89-23F52500CA1A}"/>
              </a:ext>
            </a:extLst>
          </p:cNvPr>
          <p:cNvSpPr txBox="1"/>
          <p:nvPr/>
        </p:nvSpPr>
        <p:spPr>
          <a:xfrm>
            <a:off x="172720" y="162560"/>
            <a:ext cx="12019280" cy="4031873"/>
          </a:xfrm>
          <a:prstGeom prst="rect">
            <a:avLst/>
          </a:prstGeom>
          <a:noFill/>
        </p:spPr>
        <p:txBody>
          <a:bodyPr wrap="square" rtlCol="0">
            <a:spAutoFit/>
          </a:bodyPr>
          <a:lstStyle/>
          <a:p>
            <a:endParaRPr lang="en-US" sz="3200" b="1" dirty="0">
              <a:solidFill>
                <a:srgbClr val="FF0000"/>
              </a:solidFill>
            </a:endParaRPr>
          </a:p>
          <a:p>
            <a:pPr marL="457200" indent="-457200">
              <a:buFont typeface="Wingdings" panose="05000000000000000000" pitchFamily="2" charset="2"/>
              <a:buChar char="v"/>
            </a:pPr>
            <a:r>
              <a:rPr lang="en-US" sz="3200" b="1" dirty="0">
                <a:solidFill>
                  <a:srgbClr val="FF0000"/>
                </a:solidFill>
              </a:rPr>
              <a:t>&lt;</a:t>
            </a:r>
            <a:r>
              <a:rPr lang="en-US" sz="3200" b="1" dirty="0" err="1">
                <a:solidFill>
                  <a:srgbClr val="FF0000"/>
                </a:solidFill>
              </a:rPr>
              <a:t>img</a:t>
            </a:r>
            <a:r>
              <a:rPr lang="en-US" sz="4400" b="1" dirty="0">
                <a:solidFill>
                  <a:srgbClr val="FF0000"/>
                </a:solidFill>
              </a:rPr>
              <a:t>&gt;:</a:t>
            </a:r>
            <a:r>
              <a:rPr lang="en-US" sz="2800" dirty="0"/>
              <a:t> </a:t>
            </a:r>
          </a:p>
          <a:p>
            <a:r>
              <a:rPr lang="en-US" sz="2800" dirty="0"/>
              <a:t>Embeds an image in the document. It is a self-closing tag and requires the </a:t>
            </a:r>
            <a:r>
              <a:rPr lang="en-US" sz="2800" dirty="0" err="1"/>
              <a:t>src</a:t>
            </a:r>
            <a:r>
              <a:rPr lang="en-US" sz="2800" dirty="0"/>
              <a:t> attribute to specify the image source file and the alt attribute for a text description, which aids accessibility and SEO.</a:t>
            </a:r>
          </a:p>
          <a:p>
            <a:r>
              <a:rPr lang="en-US" sz="3200" dirty="0">
                <a:solidFill>
                  <a:srgbClr val="C00000"/>
                </a:solidFill>
              </a:rPr>
              <a:t>Example:</a:t>
            </a:r>
            <a:endParaRPr lang="en-US" sz="2800" dirty="0">
              <a:solidFill>
                <a:srgbClr val="C00000"/>
              </a:solidFill>
            </a:endParaRPr>
          </a:p>
          <a:p>
            <a:r>
              <a:rPr lang="en-US" sz="3200" dirty="0">
                <a:solidFill>
                  <a:srgbClr val="00B050"/>
                </a:solidFill>
              </a:rPr>
              <a:t>&lt;</a:t>
            </a:r>
            <a:r>
              <a:rPr lang="en-US" sz="3200" dirty="0" err="1">
                <a:solidFill>
                  <a:srgbClr val="00B050"/>
                </a:solidFill>
              </a:rPr>
              <a:t>img</a:t>
            </a:r>
            <a:r>
              <a:rPr lang="en-US" sz="3200" dirty="0">
                <a:solidFill>
                  <a:srgbClr val="00B050"/>
                </a:solidFill>
              </a:rPr>
              <a:t> </a:t>
            </a:r>
            <a:r>
              <a:rPr lang="en-US" sz="3200" dirty="0" err="1">
                <a:solidFill>
                  <a:srgbClr val="00B050"/>
                </a:solidFill>
              </a:rPr>
              <a:t>src</a:t>
            </a:r>
            <a:r>
              <a:rPr lang="en-US" sz="3200" dirty="0">
                <a:solidFill>
                  <a:srgbClr val="00B050"/>
                </a:solidFill>
              </a:rPr>
              <a:t>="image.jpg" alt="Sample Image"&gt;</a:t>
            </a:r>
          </a:p>
          <a:p>
            <a:r>
              <a:rPr lang="en-US" sz="3200" dirty="0">
                <a:solidFill>
                  <a:srgbClr val="00B050"/>
                </a:solidFill>
              </a:rPr>
              <a:t>&lt;&gt;</a:t>
            </a:r>
          </a:p>
        </p:txBody>
      </p:sp>
    </p:spTree>
    <p:extLst>
      <p:ext uri="{BB962C8B-B14F-4D97-AF65-F5344CB8AC3E}">
        <p14:creationId xmlns:p14="http://schemas.microsoft.com/office/powerpoint/2010/main" val="3556943365"/>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56EA9-ADD8-E2F2-48F8-FA56316C994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288AA6E-719D-E85A-417D-6A7A699A707E}"/>
              </a:ext>
            </a:extLst>
          </p:cNvPr>
          <p:cNvGraphicFramePr>
            <a:graphicFrameLocks noGrp="1"/>
          </p:cNvGraphicFramePr>
          <p:nvPr>
            <p:extLst>
              <p:ext uri="{D42A27DB-BD31-4B8C-83A1-F6EECF244321}">
                <p14:modId xmlns:p14="http://schemas.microsoft.com/office/powerpoint/2010/main" val="2761532451"/>
              </p:ext>
            </p:extLst>
          </p:nvPr>
        </p:nvGraphicFramePr>
        <p:xfrm>
          <a:off x="2032000" y="180340"/>
          <a:ext cx="8128000" cy="6217920"/>
        </p:xfrm>
        <a:graphic>
          <a:graphicData uri="http://schemas.openxmlformats.org/drawingml/2006/table">
            <a:tbl>
              <a:tblPr firstRow="1" bandRow="1">
                <a:tableStyleId>{5C22544A-7EE6-4342-B048-85BDC9FD1C3A}</a:tableStyleId>
              </a:tblPr>
              <a:tblGrid>
                <a:gridCol w="528320">
                  <a:extLst>
                    <a:ext uri="{9D8B030D-6E8A-4147-A177-3AD203B41FA5}">
                      <a16:colId xmlns:a16="http://schemas.microsoft.com/office/drawing/2014/main" val="86355917"/>
                    </a:ext>
                  </a:extLst>
                </a:gridCol>
                <a:gridCol w="1330960">
                  <a:extLst>
                    <a:ext uri="{9D8B030D-6E8A-4147-A177-3AD203B41FA5}">
                      <a16:colId xmlns:a16="http://schemas.microsoft.com/office/drawing/2014/main" val="1219999173"/>
                    </a:ext>
                  </a:extLst>
                </a:gridCol>
                <a:gridCol w="4236720">
                  <a:extLst>
                    <a:ext uri="{9D8B030D-6E8A-4147-A177-3AD203B41FA5}">
                      <a16:colId xmlns:a16="http://schemas.microsoft.com/office/drawing/2014/main" val="745301312"/>
                    </a:ext>
                  </a:extLst>
                </a:gridCol>
                <a:gridCol w="2032000">
                  <a:extLst>
                    <a:ext uri="{9D8B030D-6E8A-4147-A177-3AD203B41FA5}">
                      <a16:colId xmlns:a16="http://schemas.microsoft.com/office/drawing/2014/main" val="727957749"/>
                    </a:ext>
                  </a:extLst>
                </a:gridCol>
              </a:tblGrid>
              <a:tr h="370840">
                <a:tc>
                  <a:txBody>
                    <a:bodyPr/>
                    <a:lstStyle/>
                    <a:p>
                      <a:pPr algn="just"/>
                      <a:r>
                        <a:rPr lang="en-US" dirty="0">
                          <a:solidFill>
                            <a:schemeClr val="bg1"/>
                          </a:solidFill>
                        </a:rPr>
                        <a:t>No</a:t>
                      </a:r>
                    </a:p>
                  </a:txBody>
                  <a:tcPr/>
                </a:tc>
                <a:tc>
                  <a:txBody>
                    <a:bodyPr/>
                    <a:lstStyle/>
                    <a:p>
                      <a:pPr algn="just"/>
                      <a:r>
                        <a:rPr lang="en-US" dirty="0">
                          <a:solidFill>
                            <a:schemeClr val="bg1"/>
                          </a:solidFill>
                        </a:rPr>
                        <a:t>HTML TAGS</a:t>
                      </a:r>
                    </a:p>
                  </a:txBody>
                  <a:tcPr/>
                </a:tc>
                <a:tc>
                  <a:txBody>
                    <a:bodyPr/>
                    <a:lstStyle/>
                    <a:p>
                      <a:pPr algn="just"/>
                      <a:r>
                        <a:rPr lang="en-US" dirty="0">
                          <a:solidFill>
                            <a:schemeClr val="bg1"/>
                          </a:solidFill>
                        </a:rPr>
                        <a:t>USE CASES</a:t>
                      </a:r>
                    </a:p>
                  </a:txBody>
                  <a:tcPr/>
                </a:tc>
                <a:tc>
                  <a:txBody>
                    <a:bodyPr/>
                    <a:lstStyle/>
                    <a:p>
                      <a:pPr algn="just"/>
                      <a:r>
                        <a:rPr lang="en-US" dirty="0">
                          <a:solidFill>
                            <a:schemeClr val="bg1"/>
                          </a:solidFill>
                        </a:rPr>
                        <a:t>EXAMPLES</a:t>
                      </a:r>
                    </a:p>
                  </a:txBody>
                  <a:tcPr/>
                </a:tc>
                <a:extLst>
                  <a:ext uri="{0D108BD9-81ED-4DB2-BD59-A6C34878D82A}">
                    <a16:rowId xmlns:a16="http://schemas.microsoft.com/office/drawing/2014/main" val="3665935597"/>
                  </a:ext>
                </a:extLst>
              </a:tr>
              <a:tr h="0">
                <a:tc>
                  <a:txBody>
                    <a:bodyPr/>
                    <a:lstStyle/>
                    <a:p>
                      <a:pPr algn="just"/>
                      <a:r>
                        <a:rPr lang="en-US" dirty="0">
                          <a:solidFill>
                            <a:schemeClr val="tx1"/>
                          </a:solidFill>
                        </a:rPr>
                        <a:t>1</a:t>
                      </a:r>
                    </a:p>
                  </a:txBody>
                  <a:tcPr/>
                </a:tc>
                <a:tc>
                  <a:txBody>
                    <a:bodyPr/>
                    <a:lstStyle/>
                    <a:p>
                      <a:pPr algn="just"/>
                      <a:endParaRPr lang="en-US" dirty="0">
                        <a:solidFill>
                          <a:srgbClr val="FF0000"/>
                        </a:solidFill>
                      </a:endParaRPr>
                    </a:p>
                    <a:p>
                      <a:pPr algn="just"/>
                      <a:endParaRPr lang="en-US" dirty="0">
                        <a:solidFill>
                          <a:srgbClr val="FF0000"/>
                        </a:solidFill>
                      </a:endParaRPr>
                    </a:p>
                    <a:p>
                      <a:pPr algn="just"/>
                      <a:r>
                        <a:rPr lang="en-US" dirty="0">
                          <a:solidFill>
                            <a:srgbClr val="FF0000"/>
                          </a:solidFill>
                        </a:rPr>
                        <a:t>&lt;HTML&gt;</a:t>
                      </a:r>
                    </a:p>
                  </a:txBody>
                  <a:tcPr/>
                </a:tc>
                <a:tc>
                  <a:txBody>
                    <a:bodyPr/>
                    <a:lstStyle/>
                    <a:p>
                      <a:pPr algn="just"/>
                      <a:endParaRPr lang="en-US" sz="1800" dirty="0"/>
                    </a:p>
                    <a:p>
                      <a:pPr algn="just"/>
                      <a:endParaRPr lang="en-US" sz="1800" dirty="0"/>
                    </a:p>
                    <a:p>
                      <a:pPr algn="just"/>
                      <a:r>
                        <a:rPr lang="en-US" sz="1800" dirty="0"/>
                        <a:t>Used in every webpage to define the start and end of the HTML document.</a:t>
                      </a:r>
                    </a:p>
                  </a:txBody>
                  <a:tcPr/>
                </a:tc>
                <a:tc>
                  <a:txBody>
                    <a:bodyPr/>
                    <a:lstStyle/>
                    <a:p>
                      <a:pPr algn="just"/>
                      <a:r>
                        <a:rPr lang="en-US" sz="1800" dirty="0">
                          <a:solidFill>
                            <a:srgbClr val="00B050"/>
                          </a:solidFill>
                        </a:rPr>
                        <a:t>&lt;html&gt;</a:t>
                      </a:r>
                    </a:p>
                    <a:p>
                      <a:pPr algn="just"/>
                      <a:r>
                        <a:rPr lang="en-US" sz="1800" dirty="0">
                          <a:solidFill>
                            <a:srgbClr val="00B050"/>
                          </a:solidFill>
                        </a:rPr>
                        <a:t>  &lt;!-- All webpage content goes here --&gt;</a:t>
                      </a:r>
                    </a:p>
                    <a:p>
                      <a:pPr algn="just"/>
                      <a:r>
                        <a:rPr lang="en-US" sz="1800" dirty="0">
                          <a:solidFill>
                            <a:srgbClr val="00B050"/>
                          </a:solidFill>
                        </a:rPr>
                        <a:t>&lt;/html&gt;</a:t>
                      </a:r>
                    </a:p>
                    <a:p>
                      <a:pPr algn="just"/>
                      <a:endParaRPr lang="en-US" dirty="0">
                        <a:solidFill>
                          <a:schemeClr val="tx1"/>
                        </a:solidFill>
                      </a:endParaRPr>
                    </a:p>
                  </a:txBody>
                  <a:tcPr/>
                </a:tc>
                <a:extLst>
                  <a:ext uri="{0D108BD9-81ED-4DB2-BD59-A6C34878D82A}">
                    <a16:rowId xmlns:a16="http://schemas.microsoft.com/office/drawing/2014/main" val="4242916689"/>
                  </a:ext>
                </a:extLst>
              </a:tr>
              <a:tr h="370840">
                <a:tc>
                  <a:txBody>
                    <a:bodyPr/>
                    <a:lstStyle/>
                    <a:p>
                      <a:pPr algn="just"/>
                      <a:r>
                        <a:rPr lang="en-US" dirty="0">
                          <a:solidFill>
                            <a:schemeClr val="tx1"/>
                          </a:solidFill>
                        </a:rPr>
                        <a:t>2</a:t>
                      </a:r>
                    </a:p>
                  </a:txBody>
                  <a:tcPr/>
                </a:tc>
                <a:tc>
                  <a:txBody>
                    <a:bodyPr/>
                    <a:lstStyle/>
                    <a:p>
                      <a:pPr algn="just"/>
                      <a:endParaRPr lang="en-US" dirty="0">
                        <a:solidFill>
                          <a:srgbClr val="FF0000"/>
                        </a:solidFill>
                      </a:endParaRPr>
                    </a:p>
                    <a:p>
                      <a:pPr algn="just"/>
                      <a:endParaRPr lang="en-US" dirty="0">
                        <a:solidFill>
                          <a:srgbClr val="FF0000"/>
                        </a:solidFill>
                      </a:endParaRPr>
                    </a:p>
                    <a:p>
                      <a:pPr algn="just"/>
                      <a:r>
                        <a:rPr lang="en-US" dirty="0">
                          <a:solidFill>
                            <a:srgbClr val="FF0000"/>
                          </a:solidFill>
                        </a:rPr>
                        <a:t>&lt;Head&gt;</a:t>
                      </a:r>
                    </a:p>
                  </a:txBody>
                  <a:tcPr/>
                </a:tc>
                <a:tc>
                  <a:txBody>
                    <a:bodyPr/>
                    <a:lstStyle/>
                    <a:p>
                      <a:pPr algn="just"/>
                      <a:endParaRPr lang="en-US" sz="1800" dirty="0"/>
                    </a:p>
                    <a:p>
                      <a:pPr algn="just"/>
                      <a:r>
                        <a:rPr lang="en-US" sz="1800" dirty="0"/>
                        <a:t>Contains metadata about the document, such as the page title, links to stylesheets, and character set information.</a:t>
                      </a:r>
                      <a:endParaRPr lang="en-US" dirty="0">
                        <a:solidFill>
                          <a:schemeClr val="tx1"/>
                        </a:solidFill>
                      </a:endParaRPr>
                    </a:p>
                  </a:txBody>
                  <a:tcPr/>
                </a:tc>
                <a:tc>
                  <a:txBody>
                    <a:bodyPr/>
                    <a:lstStyle/>
                    <a:p>
                      <a:pPr algn="just"/>
                      <a:r>
                        <a:rPr lang="en-US" dirty="0">
                          <a:solidFill>
                            <a:srgbClr val="C00000"/>
                          </a:solidFill>
                        </a:rPr>
                        <a:t> </a:t>
                      </a:r>
                      <a:r>
                        <a:rPr lang="en-US" sz="1800" dirty="0">
                          <a:solidFill>
                            <a:srgbClr val="00B050"/>
                          </a:solidFill>
                        </a:rPr>
                        <a:t>&lt;head&gt;</a:t>
                      </a:r>
                    </a:p>
                    <a:p>
                      <a:pPr algn="just"/>
                      <a:r>
                        <a:rPr lang="en-US" sz="1800" dirty="0">
                          <a:solidFill>
                            <a:srgbClr val="00B050"/>
                          </a:solidFill>
                        </a:rPr>
                        <a:t>  &lt;title&gt;My Website&lt;/title&gt;</a:t>
                      </a:r>
                    </a:p>
                    <a:p>
                      <a:pPr algn="just"/>
                      <a:r>
                        <a:rPr lang="en-US" sz="1800" dirty="0">
                          <a:solidFill>
                            <a:srgbClr val="00B050"/>
                          </a:solidFill>
                        </a:rPr>
                        <a:t>&lt;/head&gt;</a:t>
                      </a:r>
                      <a:endParaRPr lang="en-US" dirty="0">
                        <a:solidFill>
                          <a:srgbClr val="00B050"/>
                        </a:solidFill>
                      </a:endParaRPr>
                    </a:p>
                    <a:p>
                      <a:pPr algn="just"/>
                      <a:endParaRPr lang="en-US" dirty="0">
                        <a:solidFill>
                          <a:schemeClr val="tx1"/>
                        </a:solidFill>
                      </a:endParaRPr>
                    </a:p>
                  </a:txBody>
                  <a:tcPr/>
                </a:tc>
                <a:extLst>
                  <a:ext uri="{0D108BD9-81ED-4DB2-BD59-A6C34878D82A}">
                    <a16:rowId xmlns:a16="http://schemas.microsoft.com/office/drawing/2014/main" val="1594669415"/>
                  </a:ext>
                </a:extLst>
              </a:tr>
              <a:tr h="370840">
                <a:tc>
                  <a:txBody>
                    <a:bodyPr/>
                    <a:lstStyle/>
                    <a:p>
                      <a:pPr algn="just"/>
                      <a:r>
                        <a:rPr lang="en-US" dirty="0">
                          <a:solidFill>
                            <a:schemeClr val="tx1"/>
                          </a:solidFill>
                        </a:rPr>
                        <a:t>3</a:t>
                      </a:r>
                    </a:p>
                  </a:txBody>
                  <a:tcPr/>
                </a:tc>
                <a:tc>
                  <a:txBody>
                    <a:bodyPr/>
                    <a:lstStyle/>
                    <a:p>
                      <a:pPr algn="just"/>
                      <a:endParaRPr lang="en-US" dirty="0">
                        <a:solidFill>
                          <a:srgbClr val="FF0000"/>
                        </a:solidFill>
                      </a:endParaRPr>
                    </a:p>
                    <a:p>
                      <a:pPr algn="just"/>
                      <a:endParaRPr lang="en-US" dirty="0">
                        <a:solidFill>
                          <a:srgbClr val="FF0000"/>
                        </a:solidFill>
                      </a:endParaRPr>
                    </a:p>
                    <a:p>
                      <a:pPr algn="just"/>
                      <a:r>
                        <a:rPr lang="en-US" dirty="0">
                          <a:solidFill>
                            <a:srgbClr val="FF0000"/>
                          </a:solidFill>
                        </a:rPr>
                        <a:t>&lt;body&gt;</a:t>
                      </a:r>
                    </a:p>
                  </a:txBody>
                  <a:tcPr/>
                </a:tc>
                <a:tc>
                  <a:txBody>
                    <a:bodyPr/>
                    <a:lstStyle/>
                    <a:p>
                      <a:pPr algn="just"/>
                      <a:endParaRPr lang="en-US" sz="1800" dirty="0"/>
                    </a:p>
                    <a:p>
                      <a:pPr algn="just"/>
                      <a:r>
                        <a:rPr lang="en-US" sz="1800" dirty="0"/>
                        <a:t>Contains all visible content like text, images, and buttons. Used to display content users interact with. </a:t>
                      </a:r>
                      <a:endParaRPr lang="en-US" dirty="0">
                        <a:solidFill>
                          <a:schemeClr val="tx1"/>
                        </a:solidFill>
                      </a:endParaRPr>
                    </a:p>
                  </a:txBody>
                  <a:tcPr/>
                </a:tc>
                <a:tc>
                  <a:txBody>
                    <a:bodyPr/>
                    <a:lstStyle/>
                    <a:p>
                      <a:pPr algn="just"/>
                      <a:r>
                        <a:rPr lang="en-US" sz="1800" dirty="0">
                          <a:solidFill>
                            <a:srgbClr val="00B050"/>
                          </a:solidFill>
                        </a:rPr>
                        <a:t>&lt;body&gt;</a:t>
                      </a:r>
                    </a:p>
                    <a:p>
                      <a:pPr algn="just"/>
                      <a:r>
                        <a:rPr lang="en-US" sz="1800" dirty="0">
                          <a:solidFill>
                            <a:srgbClr val="00B050"/>
                          </a:solidFill>
                        </a:rPr>
                        <a:t>  &lt;h1&gt;Hello World&lt;/h1&gt;</a:t>
                      </a:r>
                    </a:p>
                    <a:p>
                      <a:pPr algn="just"/>
                      <a:r>
                        <a:rPr lang="en-US" sz="1800" dirty="0">
                          <a:solidFill>
                            <a:srgbClr val="00B050"/>
                          </a:solidFill>
                        </a:rPr>
                        <a:t>&lt;/body&gt;</a:t>
                      </a:r>
                    </a:p>
                    <a:p>
                      <a:pPr algn="just"/>
                      <a:endParaRPr lang="en-US" dirty="0">
                        <a:solidFill>
                          <a:schemeClr val="tx1"/>
                        </a:solidFill>
                      </a:endParaRPr>
                    </a:p>
                  </a:txBody>
                  <a:tcPr/>
                </a:tc>
                <a:extLst>
                  <a:ext uri="{0D108BD9-81ED-4DB2-BD59-A6C34878D82A}">
                    <a16:rowId xmlns:a16="http://schemas.microsoft.com/office/drawing/2014/main" val="2021260170"/>
                  </a:ext>
                </a:extLst>
              </a:tr>
              <a:tr h="370840">
                <a:tc>
                  <a:txBody>
                    <a:bodyPr/>
                    <a:lstStyle/>
                    <a:p>
                      <a:pPr algn="just"/>
                      <a:r>
                        <a:rPr lang="en-US" dirty="0">
                          <a:solidFill>
                            <a:schemeClr val="tx1"/>
                          </a:solidFill>
                        </a:rPr>
                        <a:t>4</a:t>
                      </a:r>
                    </a:p>
                  </a:txBody>
                  <a:tcPr/>
                </a:tc>
                <a:tc>
                  <a:txBody>
                    <a:bodyPr/>
                    <a:lstStyle/>
                    <a:p>
                      <a:pPr algn="just"/>
                      <a:r>
                        <a:rPr lang="en-US" dirty="0">
                          <a:solidFill>
                            <a:srgbClr val="FF0000"/>
                          </a:solidFill>
                        </a:rPr>
                        <a:t>&lt;h1&gt; to&lt;h6&gt;</a:t>
                      </a:r>
                    </a:p>
                  </a:txBody>
                  <a:tcPr/>
                </a:tc>
                <a:tc>
                  <a:txBody>
                    <a:bodyPr/>
                    <a:lstStyle/>
                    <a:p>
                      <a:pPr algn="just"/>
                      <a:r>
                        <a:rPr lang="en-US" sz="1800" dirty="0"/>
                        <a:t>Define HTML headings, establishing a hierarchy for the page's structure. </a:t>
                      </a:r>
                      <a:endParaRPr lang="en-US" dirty="0">
                        <a:solidFill>
                          <a:schemeClr val="tx1"/>
                        </a:solidFill>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solidFill>
                            <a:srgbClr val="00B050"/>
                          </a:solidFill>
                        </a:rPr>
                        <a:t>&lt;h1&gt;About Us&lt;/h1&gt;</a:t>
                      </a:r>
                    </a:p>
                    <a:p>
                      <a:pPr algn="just"/>
                      <a:endParaRPr lang="en-US" dirty="0">
                        <a:solidFill>
                          <a:schemeClr val="tx1"/>
                        </a:solidFill>
                      </a:endParaRPr>
                    </a:p>
                  </a:txBody>
                  <a:tcPr/>
                </a:tc>
                <a:extLst>
                  <a:ext uri="{0D108BD9-81ED-4DB2-BD59-A6C34878D82A}">
                    <a16:rowId xmlns:a16="http://schemas.microsoft.com/office/drawing/2014/main" val="3711559921"/>
                  </a:ext>
                </a:extLst>
              </a:tr>
            </a:tbl>
          </a:graphicData>
        </a:graphic>
      </p:graphicFrame>
      <p:sp>
        <p:nvSpPr>
          <p:cNvPr id="4" name="TextBox 3">
            <a:extLst>
              <a:ext uri="{FF2B5EF4-FFF2-40B4-BE49-F238E27FC236}">
                <a16:creationId xmlns:a16="http://schemas.microsoft.com/office/drawing/2014/main" id="{C80F04F0-19A0-1E6B-1B1C-17B94B6EE030}"/>
              </a:ext>
            </a:extLst>
          </p:cNvPr>
          <p:cNvSpPr txBox="1"/>
          <p:nvPr/>
        </p:nvSpPr>
        <p:spPr>
          <a:xfrm>
            <a:off x="314961" y="1127760"/>
            <a:ext cx="861774" cy="4053840"/>
          </a:xfrm>
          <a:prstGeom prst="rect">
            <a:avLst/>
          </a:prstGeom>
          <a:noFill/>
        </p:spPr>
        <p:txBody>
          <a:bodyPr vert="vert270" wrap="square">
            <a:spAutoFit/>
          </a:bodyPr>
          <a:lstStyle/>
          <a:p>
            <a:r>
              <a:rPr lang="en-US" sz="4400" u="sng" dirty="0">
                <a:solidFill>
                  <a:srgbClr val="FF0000"/>
                </a:solidFill>
              </a:rPr>
              <a:t>Summary   Table</a:t>
            </a:r>
          </a:p>
        </p:txBody>
      </p:sp>
    </p:spTree>
    <p:extLst>
      <p:ext uri="{BB962C8B-B14F-4D97-AF65-F5344CB8AC3E}">
        <p14:creationId xmlns:p14="http://schemas.microsoft.com/office/powerpoint/2010/main" val="1765231130"/>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DD89FB6-34EA-5B36-C27E-159662FDD27D}"/>
              </a:ext>
            </a:extLst>
          </p:cNvPr>
          <p:cNvGraphicFramePr>
            <a:graphicFrameLocks noGrp="1"/>
          </p:cNvGraphicFramePr>
          <p:nvPr>
            <p:extLst>
              <p:ext uri="{D42A27DB-BD31-4B8C-83A1-F6EECF244321}">
                <p14:modId xmlns:p14="http://schemas.microsoft.com/office/powerpoint/2010/main" val="3047769221"/>
              </p:ext>
            </p:extLst>
          </p:nvPr>
        </p:nvGraphicFramePr>
        <p:xfrm>
          <a:off x="2448560" y="0"/>
          <a:ext cx="8128000" cy="6217920"/>
        </p:xfrm>
        <a:graphic>
          <a:graphicData uri="http://schemas.openxmlformats.org/drawingml/2006/table">
            <a:tbl>
              <a:tblPr firstRow="1" bandRow="1">
                <a:tableStyleId>{5C22544A-7EE6-4342-B048-85BDC9FD1C3A}</a:tableStyleId>
              </a:tblPr>
              <a:tblGrid>
                <a:gridCol w="528320">
                  <a:extLst>
                    <a:ext uri="{9D8B030D-6E8A-4147-A177-3AD203B41FA5}">
                      <a16:colId xmlns:a16="http://schemas.microsoft.com/office/drawing/2014/main" val="2490482218"/>
                    </a:ext>
                  </a:extLst>
                </a:gridCol>
                <a:gridCol w="904240">
                  <a:extLst>
                    <a:ext uri="{9D8B030D-6E8A-4147-A177-3AD203B41FA5}">
                      <a16:colId xmlns:a16="http://schemas.microsoft.com/office/drawing/2014/main" val="79324287"/>
                    </a:ext>
                  </a:extLst>
                </a:gridCol>
                <a:gridCol w="4663440">
                  <a:extLst>
                    <a:ext uri="{9D8B030D-6E8A-4147-A177-3AD203B41FA5}">
                      <a16:colId xmlns:a16="http://schemas.microsoft.com/office/drawing/2014/main" val="1372169616"/>
                    </a:ext>
                  </a:extLst>
                </a:gridCol>
                <a:gridCol w="2032000">
                  <a:extLst>
                    <a:ext uri="{9D8B030D-6E8A-4147-A177-3AD203B41FA5}">
                      <a16:colId xmlns:a16="http://schemas.microsoft.com/office/drawing/2014/main" val="712979367"/>
                    </a:ext>
                  </a:extLst>
                </a:gridCol>
              </a:tblGrid>
              <a:tr h="370840">
                <a:tc>
                  <a:txBody>
                    <a:bodyPr/>
                    <a:lstStyle/>
                    <a:p>
                      <a:pPr algn="just"/>
                      <a:r>
                        <a:rPr lang="en-US" dirty="0"/>
                        <a:t>No</a:t>
                      </a:r>
                    </a:p>
                  </a:txBody>
                  <a:tcPr/>
                </a:tc>
                <a:tc>
                  <a:txBody>
                    <a:bodyPr/>
                    <a:lstStyle/>
                    <a:p>
                      <a:pPr algn="just"/>
                      <a:r>
                        <a:rPr lang="en-US" dirty="0"/>
                        <a:t>HTML TAGS</a:t>
                      </a:r>
                    </a:p>
                  </a:txBody>
                  <a:tcPr/>
                </a:tc>
                <a:tc>
                  <a:txBody>
                    <a:bodyPr/>
                    <a:lstStyle/>
                    <a:p>
                      <a:pPr algn="just"/>
                      <a:r>
                        <a:rPr lang="en-US" dirty="0"/>
                        <a:t>USE CASES</a:t>
                      </a:r>
                    </a:p>
                  </a:txBody>
                  <a:tcPr/>
                </a:tc>
                <a:tc>
                  <a:txBody>
                    <a:bodyPr/>
                    <a:lstStyle/>
                    <a:p>
                      <a:pPr algn="just"/>
                      <a:r>
                        <a:rPr lang="en-US" dirty="0"/>
                        <a:t>EXAMPLES</a:t>
                      </a:r>
                    </a:p>
                  </a:txBody>
                  <a:tcPr/>
                </a:tc>
                <a:extLst>
                  <a:ext uri="{0D108BD9-81ED-4DB2-BD59-A6C34878D82A}">
                    <a16:rowId xmlns:a16="http://schemas.microsoft.com/office/drawing/2014/main" val="3329520028"/>
                  </a:ext>
                </a:extLst>
              </a:tr>
              <a:tr h="370840">
                <a:tc>
                  <a:txBody>
                    <a:bodyPr/>
                    <a:lstStyle/>
                    <a:p>
                      <a:pPr algn="just"/>
                      <a:r>
                        <a:rPr lang="en-US" dirty="0"/>
                        <a:t>5</a:t>
                      </a:r>
                    </a:p>
                  </a:txBody>
                  <a:tcPr/>
                </a:tc>
                <a:tc>
                  <a:txBody>
                    <a:bodyPr/>
                    <a:lstStyle/>
                    <a:p>
                      <a:pPr algn="just"/>
                      <a:endParaRPr lang="en-US" dirty="0">
                        <a:solidFill>
                          <a:srgbClr val="FF0000"/>
                        </a:solidFill>
                      </a:endParaRPr>
                    </a:p>
                    <a:p>
                      <a:pPr algn="just"/>
                      <a:r>
                        <a:rPr lang="en-US" dirty="0">
                          <a:solidFill>
                            <a:srgbClr val="FF0000"/>
                          </a:solidFill>
                        </a:rPr>
                        <a:t>&lt;p&gt;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Defines a paragraph of text. Used for writing descriptions, articles, or any text content.</a:t>
                      </a:r>
                    </a:p>
                    <a:p>
                      <a:pPr algn="just"/>
                      <a:endParaRPr lang="en-US" dirty="0"/>
                    </a:p>
                  </a:txBody>
                  <a:tcPr/>
                </a:tc>
                <a:tc>
                  <a:txBody>
                    <a:bodyPr/>
                    <a:lstStyle/>
                    <a:p>
                      <a:pPr algn="ctr"/>
                      <a:r>
                        <a:rPr lang="en-US" sz="1800" dirty="0">
                          <a:solidFill>
                            <a:srgbClr val="00B050"/>
                          </a:solidFill>
                        </a:rPr>
                        <a:t>&lt;p&gt;</a:t>
                      </a:r>
                      <a:r>
                        <a:rPr lang="en-US" sz="1800" dirty="0" err="1">
                          <a:solidFill>
                            <a:srgbClr val="00B050"/>
                          </a:solidFill>
                        </a:rPr>
                        <a:t>Thisis</a:t>
                      </a:r>
                      <a:r>
                        <a:rPr lang="en-US" sz="1800" dirty="0">
                          <a:solidFill>
                            <a:srgbClr val="00B050"/>
                          </a:solidFill>
                        </a:rPr>
                        <a:t> a paragraph of text.&lt;/p&gt;</a:t>
                      </a:r>
                    </a:p>
                  </a:txBody>
                  <a:tcPr/>
                </a:tc>
                <a:extLst>
                  <a:ext uri="{0D108BD9-81ED-4DB2-BD59-A6C34878D82A}">
                    <a16:rowId xmlns:a16="http://schemas.microsoft.com/office/drawing/2014/main" val="3244481887"/>
                  </a:ext>
                </a:extLst>
              </a:tr>
              <a:tr h="370840">
                <a:tc>
                  <a:txBody>
                    <a:bodyPr/>
                    <a:lstStyle/>
                    <a:p>
                      <a:pPr algn="just"/>
                      <a:r>
                        <a:rPr lang="en-US" dirty="0"/>
                        <a:t>6</a:t>
                      </a:r>
                    </a:p>
                  </a:txBody>
                  <a:tcPr/>
                </a:tc>
                <a:tc>
                  <a:txBody>
                    <a:bodyPr/>
                    <a:lstStyle/>
                    <a:p>
                      <a:pPr algn="just"/>
                      <a:endParaRPr lang="en-US" dirty="0">
                        <a:solidFill>
                          <a:srgbClr val="FF0000"/>
                        </a:solidFill>
                      </a:endParaRPr>
                    </a:p>
                    <a:p>
                      <a:pPr algn="just"/>
                      <a:endParaRPr lang="en-US" dirty="0">
                        <a:solidFill>
                          <a:srgbClr val="FF0000"/>
                        </a:solidFill>
                      </a:endParaRPr>
                    </a:p>
                    <a:p>
                      <a:pPr algn="just"/>
                      <a:r>
                        <a:rPr lang="en-US" dirty="0">
                          <a:solidFill>
                            <a:srgbClr val="FF0000"/>
                          </a:solidFill>
                        </a:rPr>
                        <a:t>&lt;a&gt;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Creates a hyperlink, allowing users to navigate to another web page, file, or a specific part of the current page. It uses the </a:t>
                      </a:r>
                      <a:r>
                        <a:rPr lang="en-US" sz="1800" dirty="0" err="1"/>
                        <a:t>href</a:t>
                      </a:r>
                      <a:r>
                        <a:rPr lang="en-US" sz="1800" dirty="0"/>
                        <a:t> attribute to specify the destination URL.</a:t>
                      </a:r>
                    </a:p>
                    <a:p>
                      <a:pPr algn="just"/>
                      <a:endParaRPr lang="en-US" dirty="0"/>
                    </a:p>
                  </a:txBody>
                  <a:tcPr/>
                </a:tc>
                <a:tc>
                  <a:txBody>
                    <a:bodyPr/>
                    <a:lstStyle/>
                    <a:p>
                      <a:pPr algn="ctr"/>
                      <a:r>
                        <a:rPr lang="en-US" sz="1800" dirty="0">
                          <a:solidFill>
                            <a:srgbClr val="00B050"/>
                          </a:solidFill>
                        </a:rPr>
                        <a:t>&lt;a </a:t>
                      </a:r>
                      <a:r>
                        <a:rPr lang="en-US" sz="1800" dirty="0" err="1">
                          <a:solidFill>
                            <a:srgbClr val="00B050"/>
                          </a:solidFill>
                        </a:rPr>
                        <a:t>href</a:t>
                      </a:r>
                      <a:r>
                        <a:rPr lang="en-US" sz="1800" dirty="0">
                          <a:solidFill>
                            <a:srgbClr val="00B050"/>
                          </a:solidFill>
                        </a:rPr>
                        <a:t>="https://example.com"&gt;Visit Example&lt;/a&gt;</a:t>
                      </a:r>
                      <a:endParaRPr lang="en-US" dirty="0"/>
                    </a:p>
                  </a:txBody>
                  <a:tcPr/>
                </a:tc>
                <a:extLst>
                  <a:ext uri="{0D108BD9-81ED-4DB2-BD59-A6C34878D82A}">
                    <a16:rowId xmlns:a16="http://schemas.microsoft.com/office/drawing/2014/main" val="88251034"/>
                  </a:ext>
                </a:extLst>
              </a:tr>
              <a:tr h="370840">
                <a:tc>
                  <a:txBody>
                    <a:bodyPr/>
                    <a:lstStyle/>
                    <a:p>
                      <a:pPr algn="just"/>
                      <a:r>
                        <a:rPr lang="en-US" dirty="0"/>
                        <a:t>7</a:t>
                      </a:r>
                    </a:p>
                  </a:txBody>
                  <a:tcPr/>
                </a:tc>
                <a:tc>
                  <a:txBody>
                    <a:bodyPr/>
                    <a:lstStyle/>
                    <a:p>
                      <a:pPr algn="just"/>
                      <a:endParaRPr lang="en-US" dirty="0">
                        <a:solidFill>
                          <a:srgbClr val="FF0000"/>
                        </a:solidFill>
                      </a:endParaRPr>
                    </a:p>
                    <a:p>
                      <a:pPr algn="just"/>
                      <a:r>
                        <a:rPr lang="en-US" dirty="0">
                          <a:solidFill>
                            <a:srgbClr val="FF0000"/>
                          </a:solidFill>
                        </a:rPr>
                        <a:t>&lt;</a:t>
                      </a:r>
                      <a:r>
                        <a:rPr lang="en-US" dirty="0" err="1">
                          <a:solidFill>
                            <a:srgbClr val="FF0000"/>
                          </a:solidFill>
                        </a:rPr>
                        <a:t>ul</a:t>
                      </a:r>
                      <a:r>
                        <a:rPr lang="en-US" dirty="0">
                          <a:solidFill>
                            <a:srgbClr val="FF0000"/>
                          </a:solidFill>
                        </a:rPr>
                        <a:t>&gt;</a:t>
                      </a:r>
                    </a:p>
                  </a:txBody>
                  <a:tcPr/>
                </a:tc>
                <a:tc>
                  <a:txBody>
                    <a:bodyPr/>
                    <a:lstStyle/>
                    <a:p>
                      <a:pPr marL="0" indent="0" algn="just">
                        <a:buFont typeface="Wingdings" panose="05000000000000000000" pitchFamily="2" charset="2"/>
                        <a:buNone/>
                      </a:pPr>
                      <a:r>
                        <a:rPr lang="en-US" sz="1800" dirty="0"/>
                        <a:t>Defines an unordered (bulleted) list of items. Each item within the list is specified using the &lt;li&gt; tag.</a:t>
                      </a:r>
                    </a:p>
                    <a:p>
                      <a:pPr algn="just"/>
                      <a:endParaRPr lang="en-US" sz="1800" dirty="0">
                        <a:solidFill>
                          <a:srgbClr val="C00000"/>
                        </a:solidFill>
                      </a:endParaRPr>
                    </a:p>
                    <a:p>
                      <a:pPr algn="just"/>
                      <a:endParaRPr lang="en-US" dirty="0"/>
                    </a:p>
                  </a:txBody>
                  <a:tcPr/>
                </a:tc>
                <a:tc>
                  <a:txBody>
                    <a:bodyPr/>
                    <a:lstStyle/>
                    <a:p>
                      <a:pPr algn="ctr"/>
                      <a:r>
                        <a:rPr lang="it-IT" sz="1800" dirty="0">
                          <a:solidFill>
                            <a:srgbClr val="00B050"/>
                          </a:solidFill>
                        </a:rPr>
                        <a:t>&lt;ul&gt;</a:t>
                      </a:r>
                    </a:p>
                    <a:p>
                      <a:pPr algn="ctr"/>
                      <a:r>
                        <a:rPr lang="it-IT" sz="1800" dirty="0">
                          <a:solidFill>
                            <a:srgbClr val="00B050"/>
                          </a:solidFill>
                        </a:rPr>
                        <a:t>  &lt;li&gt;Item 1&lt;/li&gt;</a:t>
                      </a:r>
                    </a:p>
                    <a:p>
                      <a:pPr algn="ctr"/>
                      <a:r>
                        <a:rPr lang="it-IT" sz="1800" dirty="0">
                          <a:solidFill>
                            <a:srgbClr val="00B050"/>
                          </a:solidFill>
                        </a:rPr>
                        <a:t>  &lt;li&gt;Item 2&lt;/li&gt;</a:t>
                      </a:r>
                    </a:p>
                    <a:p>
                      <a:pPr algn="ctr"/>
                      <a:r>
                        <a:rPr lang="it-IT" sz="1800" dirty="0">
                          <a:solidFill>
                            <a:srgbClr val="00B050"/>
                          </a:solidFill>
                        </a:rPr>
                        <a:t>&lt;/ul&gt;</a:t>
                      </a:r>
                    </a:p>
                    <a:p>
                      <a:pPr algn="ctr"/>
                      <a:endParaRPr lang="en-US" dirty="0"/>
                    </a:p>
                  </a:txBody>
                  <a:tcPr/>
                </a:tc>
                <a:extLst>
                  <a:ext uri="{0D108BD9-81ED-4DB2-BD59-A6C34878D82A}">
                    <a16:rowId xmlns:a16="http://schemas.microsoft.com/office/drawing/2014/main" val="2029733644"/>
                  </a:ext>
                </a:extLst>
              </a:tr>
              <a:tr h="331894">
                <a:tc>
                  <a:txBody>
                    <a:bodyPr/>
                    <a:lstStyle/>
                    <a:p>
                      <a:pPr algn="just"/>
                      <a:r>
                        <a:rPr lang="en-US" dirty="0"/>
                        <a:t>8</a:t>
                      </a:r>
                    </a:p>
                  </a:txBody>
                  <a:tcPr/>
                </a:tc>
                <a:tc>
                  <a:txBody>
                    <a:bodyPr/>
                    <a:lstStyle/>
                    <a:p>
                      <a:pPr algn="just"/>
                      <a:endParaRPr lang="en-US" dirty="0">
                        <a:solidFill>
                          <a:srgbClr val="FF0000"/>
                        </a:solidFill>
                      </a:endParaRPr>
                    </a:p>
                    <a:p>
                      <a:pPr algn="just"/>
                      <a:r>
                        <a:rPr lang="en-US" dirty="0">
                          <a:solidFill>
                            <a:srgbClr val="FF0000"/>
                          </a:solidFill>
                        </a:rPr>
                        <a:t>&lt;div&gt;</a:t>
                      </a:r>
                    </a:p>
                  </a:txBody>
                  <a:tcPr/>
                </a:tc>
                <a:tc>
                  <a:txBody>
                    <a:bodyPr/>
                    <a:lstStyle/>
                    <a:p>
                      <a:pPr algn="just"/>
                      <a:r>
                        <a:rPr lang="en-US" sz="1800" dirty="0"/>
                        <a:t> Used as a generic container for grouping other HTML elements for styling with CSS or positioning on the page.</a:t>
                      </a:r>
                      <a:endParaRPr lang="en-US" dirty="0"/>
                    </a:p>
                  </a:txBody>
                  <a:tcPr/>
                </a:tc>
                <a:tc>
                  <a:txBody>
                    <a:bodyPr/>
                    <a:lstStyle/>
                    <a:p>
                      <a:pPr algn="ctr"/>
                      <a:r>
                        <a:rPr lang="en-US" sz="1800" dirty="0">
                          <a:solidFill>
                            <a:srgbClr val="00B050"/>
                          </a:solidFill>
                        </a:rPr>
                        <a:t>&lt;div&gt;</a:t>
                      </a:r>
                    </a:p>
                    <a:p>
                      <a:pPr algn="ctr"/>
                      <a:r>
                        <a:rPr lang="en-US" sz="1800" dirty="0">
                          <a:solidFill>
                            <a:srgbClr val="00B050"/>
                          </a:solidFill>
                        </a:rPr>
                        <a:t>  &lt;p&gt;Content inside a div&lt;/p&gt;</a:t>
                      </a:r>
                    </a:p>
                    <a:p>
                      <a:pPr algn="ctr"/>
                      <a:r>
                        <a:rPr lang="en-US" sz="1800" dirty="0">
                          <a:solidFill>
                            <a:srgbClr val="00B050"/>
                          </a:solidFill>
                        </a:rPr>
                        <a:t>&lt;/div&gt;</a:t>
                      </a:r>
                    </a:p>
                    <a:p>
                      <a:pPr algn="ctr"/>
                      <a:endParaRPr lang="en-US" dirty="0"/>
                    </a:p>
                  </a:txBody>
                  <a:tcPr/>
                </a:tc>
                <a:extLst>
                  <a:ext uri="{0D108BD9-81ED-4DB2-BD59-A6C34878D82A}">
                    <a16:rowId xmlns:a16="http://schemas.microsoft.com/office/drawing/2014/main" val="98456674"/>
                  </a:ext>
                </a:extLst>
              </a:tr>
            </a:tbl>
          </a:graphicData>
        </a:graphic>
      </p:graphicFrame>
      <p:sp>
        <p:nvSpPr>
          <p:cNvPr id="4" name="TextBox 3">
            <a:extLst>
              <a:ext uri="{FF2B5EF4-FFF2-40B4-BE49-F238E27FC236}">
                <a16:creationId xmlns:a16="http://schemas.microsoft.com/office/drawing/2014/main" id="{9C4BDA29-CC01-97B2-7232-B5EB14C75F54}"/>
              </a:ext>
            </a:extLst>
          </p:cNvPr>
          <p:cNvSpPr txBox="1"/>
          <p:nvPr/>
        </p:nvSpPr>
        <p:spPr>
          <a:xfrm>
            <a:off x="406400" y="1016000"/>
            <a:ext cx="923330" cy="4876800"/>
          </a:xfrm>
          <a:prstGeom prst="rect">
            <a:avLst/>
          </a:prstGeom>
          <a:noFill/>
        </p:spPr>
        <p:txBody>
          <a:bodyPr vert="vert270" wrap="square" rtlCol="0">
            <a:spAutoFit/>
          </a:bodyPr>
          <a:lstStyle/>
          <a:p>
            <a:r>
              <a:rPr lang="en-US" sz="4800" u="sng" dirty="0">
                <a:solidFill>
                  <a:srgbClr val="FF0000"/>
                </a:solidFill>
              </a:rPr>
              <a:t>Summary   Table</a:t>
            </a:r>
          </a:p>
        </p:txBody>
      </p:sp>
    </p:spTree>
    <p:extLst>
      <p:ext uri="{BB962C8B-B14F-4D97-AF65-F5344CB8AC3E}">
        <p14:creationId xmlns:p14="http://schemas.microsoft.com/office/powerpoint/2010/main" val="534824355"/>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E97DD-9853-F818-164C-1FA8441706D7}"/>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34EDA83-CF48-6FDA-FFD1-B2C6E80C809C}"/>
              </a:ext>
            </a:extLst>
          </p:cNvPr>
          <p:cNvGraphicFramePr>
            <a:graphicFrameLocks noGrp="1"/>
          </p:cNvGraphicFramePr>
          <p:nvPr>
            <p:extLst>
              <p:ext uri="{D42A27DB-BD31-4B8C-83A1-F6EECF244321}">
                <p14:modId xmlns:p14="http://schemas.microsoft.com/office/powerpoint/2010/main" val="1711559605"/>
              </p:ext>
            </p:extLst>
          </p:nvPr>
        </p:nvGraphicFramePr>
        <p:xfrm>
          <a:off x="1270000" y="121920"/>
          <a:ext cx="8941119" cy="3848946"/>
        </p:xfrm>
        <a:graphic>
          <a:graphicData uri="http://schemas.openxmlformats.org/drawingml/2006/table">
            <a:tbl>
              <a:tblPr firstRow="1" bandRow="1">
                <a:tableStyleId>{5C22544A-7EE6-4342-B048-85BDC9FD1C3A}</a:tableStyleId>
              </a:tblPr>
              <a:tblGrid>
                <a:gridCol w="526500">
                  <a:extLst>
                    <a:ext uri="{9D8B030D-6E8A-4147-A177-3AD203B41FA5}">
                      <a16:colId xmlns:a16="http://schemas.microsoft.com/office/drawing/2014/main" val="2490482218"/>
                    </a:ext>
                  </a:extLst>
                </a:gridCol>
                <a:gridCol w="1030215">
                  <a:extLst>
                    <a:ext uri="{9D8B030D-6E8A-4147-A177-3AD203B41FA5}">
                      <a16:colId xmlns:a16="http://schemas.microsoft.com/office/drawing/2014/main" val="79324287"/>
                    </a:ext>
                  </a:extLst>
                </a:gridCol>
                <a:gridCol w="5193186">
                  <a:extLst>
                    <a:ext uri="{9D8B030D-6E8A-4147-A177-3AD203B41FA5}">
                      <a16:colId xmlns:a16="http://schemas.microsoft.com/office/drawing/2014/main" val="1372169616"/>
                    </a:ext>
                  </a:extLst>
                </a:gridCol>
                <a:gridCol w="2191218">
                  <a:extLst>
                    <a:ext uri="{9D8B030D-6E8A-4147-A177-3AD203B41FA5}">
                      <a16:colId xmlns:a16="http://schemas.microsoft.com/office/drawing/2014/main" val="712979367"/>
                    </a:ext>
                  </a:extLst>
                </a:gridCol>
              </a:tblGrid>
              <a:tr h="641491">
                <a:tc>
                  <a:txBody>
                    <a:bodyPr/>
                    <a:lstStyle/>
                    <a:p>
                      <a:pPr algn="ctr"/>
                      <a:r>
                        <a:rPr lang="en-US" dirty="0"/>
                        <a:t>No</a:t>
                      </a:r>
                    </a:p>
                  </a:txBody>
                  <a:tcPr/>
                </a:tc>
                <a:tc>
                  <a:txBody>
                    <a:bodyPr/>
                    <a:lstStyle/>
                    <a:p>
                      <a:pPr algn="ctr"/>
                      <a:r>
                        <a:rPr lang="en-US" dirty="0"/>
                        <a:t>HTML TAGS</a:t>
                      </a:r>
                    </a:p>
                  </a:txBody>
                  <a:tcPr/>
                </a:tc>
                <a:tc>
                  <a:txBody>
                    <a:bodyPr/>
                    <a:lstStyle/>
                    <a:p>
                      <a:pPr algn="ctr"/>
                      <a:r>
                        <a:rPr lang="en-US" dirty="0"/>
                        <a:t>USE CASES</a:t>
                      </a:r>
                    </a:p>
                  </a:txBody>
                  <a:tcPr/>
                </a:tc>
                <a:tc>
                  <a:txBody>
                    <a:bodyPr/>
                    <a:lstStyle/>
                    <a:p>
                      <a:pPr algn="ctr"/>
                      <a:r>
                        <a:rPr lang="en-US" dirty="0"/>
                        <a:t>EXAMPLES</a:t>
                      </a:r>
                    </a:p>
                  </a:txBody>
                  <a:tcPr/>
                </a:tc>
                <a:extLst>
                  <a:ext uri="{0D108BD9-81ED-4DB2-BD59-A6C34878D82A}">
                    <a16:rowId xmlns:a16="http://schemas.microsoft.com/office/drawing/2014/main" val="3329520028"/>
                  </a:ext>
                </a:extLst>
              </a:tr>
              <a:tr h="1466265">
                <a:tc>
                  <a:txBody>
                    <a:bodyPr/>
                    <a:lstStyle/>
                    <a:p>
                      <a:pPr algn="ctr"/>
                      <a:r>
                        <a:rPr lang="en-US" dirty="0"/>
                        <a:t>5</a:t>
                      </a:r>
                    </a:p>
                  </a:txBody>
                  <a:tcPr/>
                </a:tc>
                <a:tc>
                  <a:txBody>
                    <a:bodyPr/>
                    <a:lstStyle/>
                    <a:p>
                      <a:pPr algn="ctr"/>
                      <a:endParaRPr lang="en-US" dirty="0">
                        <a:solidFill>
                          <a:srgbClr val="FF0000"/>
                        </a:solidFill>
                      </a:endParaRPr>
                    </a:p>
                    <a:p>
                      <a:pPr algn="ctr"/>
                      <a:r>
                        <a:rPr lang="en-US" dirty="0">
                          <a:solidFill>
                            <a:srgbClr val="FF0000"/>
                          </a:solidFill>
                        </a:rPr>
                        <a:t>&lt;</a:t>
                      </a:r>
                      <a:r>
                        <a:rPr lang="en-US" dirty="0" err="1">
                          <a:solidFill>
                            <a:srgbClr val="FF0000"/>
                          </a:solidFill>
                        </a:rPr>
                        <a:t>img</a:t>
                      </a:r>
                      <a:r>
                        <a:rPr lang="en-US" dirty="0">
                          <a:solidFill>
                            <a:srgbClr val="FF0000"/>
                          </a:solidFill>
                        </a:rPr>
                        <a:t>&gt;</a:t>
                      </a:r>
                    </a:p>
                  </a:txBody>
                  <a:tcPr/>
                </a:tc>
                <a:tc>
                  <a:txBody>
                    <a:bodyPr/>
                    <a:lstStyle/>
                    <a:p>
                      <a:pPr algn="ctr"/>
                      <a:r>
                        <a:rPr lang="en-US" sz="1800" dirty="0"/>
                        <a:t>Embeds an image in the document. It is a self-closing tag and requires the </a:t>
                      </a:r>
                      <a:r>
                        <a:rPr lang="en-US" sz="1800" dirty="0" err="1"/>
                        <a:t>src</a:t>
                      </a:r>
                      <a:r>
                        <a:rPr lang="en-US" sz="1800" dirty="0"/>
                        <a:t> attribute to specify the image source file and the alt attribute for a text description, which aids accessibility and SEO.</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rgbClr val="00B050"/>
                          </a:solidFill>
                        </a:rPr>
                        <a:t>&lt;</a:t>
                      </a:r>
                      <a:r>
                        <a:rPr lang="en-US" sz="1800" dirty="0" err="1">
                          <a:solidFill>
                            <a:srgbClr val="00B050"/>
                          </a:solidFill>
                        </a:rPr>
                        <a:t>img</a:t>
                      </a:r>
                      <a:r>
                        <a:rPr lang="en-US" sz="1800" dirty="0">
                          <a:solidFill>
                            <a:srgbClr val="00B050"/>
                          </a:solidFill>
                        </a:rPr>
                        <a:t> </a:t>
                      </a:r>
                      <a:r>
                        <a:rPr lang="en-US" sz="1800" dirty="0" err="1">
                          <a:solidFill>
                            <a:srgbClr val="00B050"/>
                          </a:solidFill>
                        </a:rPr>
                        <a:t>src</a:t>
                      </a:r>
                      <a:r>
                        <a:rPr lang="en-US" sz="1800" dirty="0">
                          <a:solidFill>
                            <a:srgbClr val="00B050"/>
                          </a:solidFill>
                        </a:rPr>
                        <a:t>="image.jpg" alt="Sample Image"&gt;</a:t>
                      </a:r>
                    </a:p>
                    <a:p>
                      <a:pPr algn="ctr"/>
                      <a:r>
                        <a:rPr lang="en-US" sz="1800" dirty="0">
                          <a:solidFill>
                            <a:srgbClr val="00B050"/>
                          </a:solidFill>
                        </a:rPr>
                        <a:t>&gt;</a:t>
                      </a:r>
                    </a:p>
                  </a:txBody>
                  <a:tcPr/>
                </a:tc>
                <a:extLst>
                  <a:ext uri="{0D108BD9-81ED-4DB2-BD59-A6C34878D82A}">
                    <a16:rowId xmlns:a16="http://schemas.microsoft.com/office/drawing/2014/main" val="3244481887"/>
                  </a:ext>
                </a:extLst>
              </a:tr>
              <a:tr h="1741190">
                <a:tc>
                  <a:txBody>
                    <a:bodyPr/>
                    <a:lstStyle/>
                    <a:p>
                      <a:pPr algn="ctr"/>
                      <a:r>
                        <a:rPr lang="en-US" dirty="0"/>
                        <a:t>6</a:t>
                      </a:r>
                    </a:p>
                  </a:txBody>
                  <a:tcPr/>
                </a:tc>
                <a:tc>
                  <a:txBody>
                    <a:bodyPr/>
                    <a:lstStyle/>
                    <a:p>
                      <a:pPr algn="ctr"/>
                      <a:endParaRPr lang="en-US" dirty="0">
                        <a:solidFill>
                          <a:srgbClr val="FF0000"/>
                        </a:solidFill>
                      </a:endParaRPr>
                    </a:p>
                    <a:p>
                      <a:pPr algn="ctr"/>
                      <a:endParaRPr lang="en-US" dirty="0">
                        <a:solidFill>
                          <a:srgbClr val="FF0000"/>
                        </a:solidFill>
                      </a:endParaRPr>
                    </a:p>
                    <a:p>
                      <a:pPr algn="ctr"/>
                      <a:r>
                        <a:rPr lang="en-US" dirty="0">
                          <a:solidFill>
                            <a:srgbClr val="FF0000"/>
                          </a:solidFill>
                        </a:rPr>
                        <a:t>&lt;a&gt;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Creates a hyperlink, allowing users to navigate to another web page, file, or a specific part of the current page. It uses the </a:t>
                      </a:r>
                      <a:r>
                        <a:rPr lang="en-US" sz="1800" dirty="0" err="1"/>
                        <a:t>href</a:t>
                      </a:r>
                      <a:r>
                        <a:rPr lang="en-US" sz="1800" dirty="0"/>
                        <a:t> attribute to specify the destination URL.</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rgbClr val="00B050"/>
                          </a:solidFill>
                        </a:rPr>
                        <a:t>&lt;</a:t>
                      </a:r>
                      <a:r>
                        <a:rPr lang="en-US" sz="1800" dirty="0" err="1">
                          <a:solidFill>
                            <a:srgbClr val="00B050"/>
                          </a:solidFill>
                        </a:rPr>
                        <a:t>img</a:t>
                      </a:r>
                      <a:r>
                        <a:rPr lang="en-US" sz="1800" dirty="0">
                          <a:solidFill>
                            <a:srgbClr val="00B050"/>
                          </a:solidFill>
                        </a:rPr>
                        <a:t> </a:t>
                      </a:r>
                      <a:r>
                        <a:rPr lang="en-US" sz="1800" dirty="0" err="1">
                          <a:solidFill>
                            <a:srgbClr val="00B050"/>
                          </a:solidFill>
                        </a:rPr>
                        <a:t>src</a:t>
                      </a:r>
                      <a:r>
                        <a:rPr lang="en-US" sz="1800" dirty="0">
                          <a:solidFill>
                            <a:srgbClr val="00B050"/>
                          </a:solidFill>
                        </a:rPr>
                        <a:t>="image.jpg" alt="Sample Image"&gt;</a:t>
                      </a:r>
                    </a:p>
                    <a:p>
                      <a:pPr algn="ctr"/>
                      <a:r>
                        <a:rPr lang="en-US" sz="1800" dirty="0">
                          <a:solidFill>
                            <a:srgbClr val="00B050"/>
                          </a:solidFill>
                        </a:rPr>
                        <a:t>&gt;</a:t>
                      </a:r>
                      <a:endParaRPr lang="en-US" dirty="0"/>
                    </a:p>
                  </a:txBody>
                  <a:tcPr/>
                </a:tc>
                <a:extLst>
                  <a:ext uri="{0D108BD9-81ED-4DB2-BD59-A6C34878D82A}">
                    <a16:rowId xmlns:a16="http://schemas.microsoft.com/office/drawing/2014/main" val="88251034"/>
                  </a:ext>
                </a:extLst>
              </a:tr>
            </a:tbl>
          </a:graphicData>
        </a:graphic>
      </p:graphicFrame>
    </p:spTree>
    <p:extLst>
      <p:ext uri="{BB962C8B-B14F-4D97-AF65-F5344CB8AC3E}">
        <p14:creationId xmlns:p14="http://schemas.microsoft.com/office/powerpoint/2010/main" val="3448439479"/>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3703</TotalTime>
  <Words>1019</Words>
  <Application>Microsoft Office PowerPoint</Application>
  <PresentationFormat>Widescreen</PresentationFormat>
  <Paragraphs>163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Arial Narrow</vt:lpstr>
      <vt:lpstr>Gill Sans MT</vt:lpstr>
      <vt:lpstr>Wingdings</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Ndi Jeff</dc:creator>
  <cp:lastModifiedBy>Ndi Jeff</cp:lastModifiedBy>
  <cp:revision>1</cp:revision>
  <dcterms:created xsi:type="dcterms:W3CDTF">2026-03-01T20:11:02Z</dcterms:created>
  <dcterms:modified xsi:type="dcterms:W3CDTF">2026-03-04T16:26:46Z</dcterms:modified>
</cp:coreProperties>
</file>