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770ACC15-3B6C-44B3-9657-2837D8130729}" type="datetimeFigureOut">
              <a:rPr lang="en-US" smtClean="0"/>
              <a:t>3/5/2026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C9EEC56A-39DF-4CEE-89D3-17DF44EFA9DE}"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0481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0ACC15-3B6C-44B3-9657-2837D8130729}"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EEC56A-39DF-4CEE-89D3-17DF44EFA9DE}" type="slidenum">
              <a:rPr lang="en-US" smtClean="0"/>
              <a:t>‹#›</a:t>
            </a:fld>
            <a:endParaRPr lang="en-US"/>
          </a:p>
        </p:txBody>
      </p:sp>
    </p:spTree>
    <p:extLst>
      <p:ext uri="{BB962C8B-B14F-4D97-AF65-F5344CB8AC3E}">
        <p14:creationId xmlns:p14="http://schemas.microsoft.com/office/powerpoint/2010/main" val="1692603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0ACC15-3B6C-44B3-9657-2837D8130729}"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EEC56A-39DF-4CEE-89D3-17DF44EFA9DE}"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4752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0ACC15-3B6C-44B3-9657-2837D8130729}"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EEC56A-39DF-4CEE-89D3-17DF44EFA9DE}" type="slidenum">
              <a:rPr lang="en-US" smtClean="0"/>
              <a:t>‹#›</a:t>
            </a:fld>
            <a:endParaRPr lang="en-US"/>
          </a:p>
        </p:txBody>
      </p:sp>
    </p:spTree>
    <p:extLst>
      <p:ext uri="{BB962C8B-B14F-4D97-AF65-F5344CB8AC3E}">
        <p14:creationId xmlns:p14="http://schemas.microsoft.com/office/powerpoint/2010/main" val="2892528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0ACC15-3B6C-44B3-9657-2837D8130729}" type="datetimeFigureOut">
              <a:rPr lang="en-US" smtClean="0"/>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9EEC56A-39DF-4CEE-89D3-17DF44EFA9DE}"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344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0ACC15-3B6C-44B3-9657-2837D8130729}" type="datetimeFigureOut">
              <a:rPr lang="en-US" smtClean="0"/>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9EEC56A-39DF-4CEE-89D3-17DF44EFA9DE}"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6589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0ACC15-3B6C-44B3-9657-2837D8130729}" type="datetimeFigureOut">
              <a:rPr lang="en-US" smtClean="0"/>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9EEC56A-39DF-4CEE-89D3-17DF44EFA9DE}" type="slidenum">
              <a:rPr lang="en-US" smtClean="0"/>
              <a:t>‹#›</a:t>
            </a:fld>
            <a:endParaRPr lang="en-US"/>
          </a:p>
        </p:txBody>
      </p:sp>
    </p:spTree>
    <p:extLst>
      <p:ext uri="{BB962C8B-B14F-4D97-AF65-F5344CB8AC3E}">
        <p14:creationId xmlns:p14="http://schemas.microsoft.com/office/powerpoint/2010/main" val="2132466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0ACC15-3B6C-44B3-9657-2837D8130729}"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EEC56A-39DF-4CEE-89D3-17DF44EFA9DE}"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2645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0ACC15-3B6C-44B3-9657-2837D8130729}"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EEC56A-39DF-4CEE-89D3-17DF44EFA9DE}" type="slidenum">
              <a:rPr lang="en-US" smtClean="0"/>
              <a:t>‹#›</a:t>
            </a:fld>
            <a:endParaRPr lang="en-US"/>
          </a:p>
        </p:txBody>
      </p:sp>
    </p:spTree>
    <p:extLst>
      <p:ext uri="{BB962C8B-B14F-4D97-AF65-F5344CB8AC3E}">
        <p14:creationId xmlns:p14="http://schemas.microsoft.com/office/powerpoint/2010/main" val="245457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0ACC15-3B6C-44B3-9657-2837D8130729}"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EEC56A-39DF-4CEE-89D3-17DF44EFA9DE}" type="slidenum">
              <a:rPr lang="en-US" smtClean="0"/>
              <a:t>‹#›</a:t>
            </a:fld>
            <a:endParaRPr lang="en-US"/>
          </a:p>
        </p:txBody>
      </p:sp>
    </p:spTree>
    <p:extLst>
      <p:ext uri="{BB962C8B-B14F-4D97-AF65-F5344CB8AC3E}">
        <p14:creationId xmlns:p14="http://schemas.microsoft.com/office/powerpoint/2010/main" val="3256448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0ACC15-3B6C-44B3-9657-2837D8130729}"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EEC56A-39DF-4CEE-89D3-17DF44EFA9DE}"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0098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0ACC15-3B6C-44B3-9657-2837D8130729}"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EEC56A-39DF-4CEE-89D3-17DF44EFA9DE}"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85941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0ACC15-3B6C-44B3-9657-2837D8130729}"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EEC56A-39DF-4CEE-89D3-17DF44EFA9DE}" type="slidenum">
              <a:rPr lang="en-US" smtClean="0"/>
              <a:t>‹#›</a:t>
            </a:fld>
            <a:endParaRPr lang="en-US"/>
          </a:p>
        </p:txBody>
      </p:sp>
    </p:spTree>
    <p:extLst>
      <p:ext uri="{BB962C8B-B14F-4D97-AF65-F5344CB8AC3E}">
        <p14:creationId xmlns:p14="http://schemas.microsoft.com/office/powerpoint/2010/main" val="31289651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0ACC15-3B6C-44B3-9657-2837D8130729}"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EEC56A-39DF-4CEE-89D3-17DF44EFA9DE}"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1187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0ACC15-3B6C-44B3-9657-2837D8130729}"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EEC56A-39DF-4CEE-89D3-17DF44EFA9DE}"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31757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0ACC15-3B6C-44B3-9657-2837D8130729}"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EEC56A-39DF-4CEE-89D3-17DF44EFA9DE}"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95148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0ACC15-3B6C-44B3-9657-2837D8130729}"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EEC56A-39DF-4CEE-89D3-17DF44EFA9DE}"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1122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70ACC15-3B6C-44B3-9657-2837D8130729}" type="datetimeFigureOut">
              <a:rPr lang="en-US" smtClean="0"/>
              <a:t>3/5/2026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9EEC56A-39DF-4CEE-89D3-17DF44EFA9DE}" type="slidenum">
              <a:rPr lang="en-US" smtClean="0"/>
              <a:t>‹#›</a:t>
            </a:fld>
            <a:endParaRPr lang="en-US"/>
          </a:p>
        </p:txBody>
      </p:sp>
    </p:spTree>
    <p:extLst>
      <p:ext uri="{BB962C8B-B14F-4D97-AF65-F5344CB8AC3E}">
        <p14:creationId xmlns:p14="http://schemas.microsoft.com/office/powerpoint/2010/main" val="10914571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EF000A-A15B-29D0-8962-3E618F50C873}"/>
              </a:ext>
            </a:extLst>
          </p:cNvPr>
          <p:cNvSpPr txBox="1"/>
          <p:nvPr/>
        </p:nvSpPr>
        <p:spPr>
          <a:xfrm>
            <a:off x="792480" y="822960"/>
            <a:ext cx="10607040" cy="4770537"/>
          </a:xfrm>
          <a:prstGeom prst="rect">
            <a:avLst/>
          </a:prstGeom>
          <a:noFill/>
        </p:spPr>
        <p:txBody>
          <a:bodyPr wrap="square" rtlCol="0">
            <a:spAutoFit/>
          </a:bodyPr>
          <a:lstStyle/>
          <a:p>
            <a:pPr algn="ctr"/>
            <a:endParaRPr lang="en-US" sz="1800" dirty="0"/>
          </a:p>
          <a:p>
            <a:pPr algn="ctr"/>
            <a:r>
              <a:rPr lang="en-US" sz="5400" b="1" dirty="0">
                <a:latin typeface="Algerian" panose="04020705040A02060702" pitchFamily="82" charset="0"/>
              </a:rPr>
              <a:t>Title:</a:t>
            </a:r>
            <a:r>
              <a:rPr lang="en-US" sz="6600" b="1" dirty="0">
                <a:solidFill>
                  <a:srgbClr val="FF0000"/>
                </a:solidFill>
                <a:latin typeface="Algerian" panose="04020705040A02060702" pitchFamily="82" charset="0"/>
              </a:rPr>
              <a:t> HTTP STATUS CODE</a:t>
            </a:r>
          </a:p>
          <a:p>
            <a:pPr algn="ctr"/>
            <a:endParaRPr lang="en-US" sz="2400" dirty="0">
              <a:solidFill>
                <a:srgbClr val="FF0000"/>
              </a:solidFill>
            </a:endParaRPr>
          </a:p>
          <a:p>
            <a:pPr algn="ctr"/>
            <a:endParaRPr lang="en-US" sz="2400" dirty="0">
              <a:solidFill>
                <a:srgbClr val="FF0000"/>
              </a:solidFill>
            </a:endParaRPr>
          </a:p>
          <a:p>
            <a:pPr marL="285750" indent="-285750" algn="just">
              <a:buFont typeface="Wingdings" panose="05000000000000000000" pitchFamily="2" charset="2"/>
              <a:buChar char="v"/>
            </a:pPr>
            <a:r>
              <a:rPr lang="en-US" sz="3600" dirty="0">
                <a:latin typeface="Algerian" panose="04020705040A02060702" pitchFamily="82" charset="0"/>
              </a:rPr>
              <a:t>Presented by</a:t>
            </a:r>
            <a:r>
              <a:rPr lang="en-US" sz="2800" dirty="0">
                <a:latin typeface="Algerian" panose="04020705040A02060702" pitchFamily="82" charset="0"/>
              </a:rPr>
              <a:t>: [ </a:t>
            </a:r>
            <a:r>
              <a:rPr lang="en-US" sz="2800" dirty="0" err="1">
                <a:latin typeface="Algerian" panose="04020705040A02060702" pitchFamily="82" charset="0"/>
              </a:rPr>
              <a:t>Ndiwapit</a:t>
            </a:r>
            <a:r>
              <a:rPr lang="en-US" sz="2800" dirty="0">
                <a:latin typeface="Algerian" panose="04020705040A02060702" pitchFamily="82" charset="0"/>
              </a:rPr>
              <a:t>  Jephthah].</a:t>
            </a:r>
          </a:p>
          <a:p>
            <a:pPr marL="285750" indent="-285750" algn="just">
              <a:buFont typeface="Wingdings" panose="05000000000000000000" pitchFamily="2" charset="2"/>
              <a:buChar char="v"/>
            </a:pPr>
            <a:endParaRPr lang="en-US" sz="2800" dirty="0">
              <a:latin typeface="Algerian" panose="04020705040A02060702" pitchFamily="82" charset="0"/>
            </a:endParaRPr>
          </a:p>
          <a:p>
            <a:pPr marL="285750" indent="-285750" algn="just">
              <a:buFont typeface="Wingdings" panose="05000000000000000000" pitchFamily="2" charset="2"/>
              <a:buChar char="v"/>
            </a:pPr>
            <a:r>
              <a:rPr lang="en-US" sz="2800" dirty="0">
                <a:latin typeface="Algerian" panose="04020705040A02060702" pitchFamily="82" charset="0"/>
              </a:rPr>
              <a:t>School: CITECHITM University.</a:t>
            </a:r>
          </a:p>
          <a:p>
            <a:pPr marL="285750" indent="-285750" algn="just">
              <a:buFont typeface="Wingdings" panose="05000000000000000000" pitchFamily="2" charset="2"/>
              <a:buChar char="v"/>
            </a:pPr>
            <a:endParaRPr lang="en-US" sz="2800" dirty="0">
              <a:latin typeface="Algerian" panose="04020705040A02060702" pitchFamily="82" charset="0"/>
            </a:endParaRPr>
          </a:p>
          <a:p>
            <a:pPr marL="285750" indent="-285750" algn="just">
              <a:buFont typeface="Wingdings" panose="05000000000000000000" pitchFamily="2" charset="2"/>
              <a:buChar char="v"/>
            </a:pPr>
            <a:r>
              <a:rPr lang="en-US" sz="2800" dirty="0">
                <a:latin typeface="Algerian" panose="04020705040A02060702" pitchFamily="82" charset="0"/>
              </a:rPr>
              <a:t>Course: Introduction To Web Development.</a:t>
            </a:r>
            <a:endParaRPr lang="en-US" sz="1050" dirty="0">
              <a:latin typeface="Algerian" panose="04020705040A02060702" pitchFamily="82" charset="0"/>
            </a:endParaRPr>
          </a:p>
          <a:p>
            <a:endParaRPr lang="en-US" dirty="0"/>
          </a:p>
        </p:txBody>
      </p:sp>
    </p:spTree>
    <p:extLst>
      <p:ext uri="{BB962C8B-B14F-4D97-AF65-F5344CB8AC3E}">
        <p14:creationId xmlns:p14="http://schemas.microsoft.com/office/powerpoint/2010/main" val="15910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F0E1B-1CD4-4F4F-57F3-0A3E7CC21B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522B90-325E-9A8D-D3CB-9A3002364079}"/>
              </a:ext>
            </a:extLst>
          </p:cNvPr>
          <p:cNvSpPr txBox="1"/>
          <p:nvPr/>
        </p:nvSpPr>
        <p:spPr>
          <a:xfrm>
            <a:off x="619760" y="609600"/>
            <a:ext cx="10932160" cy="5693866"/>
          </a:xfrm>
          <a:prstGeom prst="rect">
            <a:avLst/>
          </a:prstGeom>
          <a:noFill/>
        </p:spPr>
        <p:txBody>
          <a:bodyPr wrap="square" rtlCol="0">
            <a:spAutoFit/>
          </a:bodyPr>
          <a:lstStyle/>
          <a:p>
            <a:r>
              <a:rPr lang="en-US" sz="2800" b="1" dirty="0">
                <a:solidFill>
                  <a:srgbClr val="FF0000"/>
                </a:solidFill>
              </a:rPr>
              <a:t>Introduction:</a:t>
            </a:r>
          </a:p>
          <a:p>
            <a:r>
              <a:rPr lang="en-US" sz="2800" dirty="0"/>
              <a:t>       </a:t>
            </a:r>
            <a:r>
              <a:rPr lang="en-US" sz="2800" dirty="0">
                <a:latin typeface="Arial Narrow" panose="020B0606020202030204" pitchFamily="34" charset="0"/>
              </a:rPr>
              <a:t>Effective website management requires a thorough understanding of HTTP status codes—three-digit numbers that indicate the outcome of a client's request to your server. These codes encompass a range of responses, from successful requests to various client and server errors. Knowing the different HTTP status codes will help with diagnosing website issues, optimizing site performance, and enhancing user experience</a:t>
            </a:r>
          </a:p>
          <a:p>
            <a:endParaRPr lang="en-US" sz="2800" dirty="0">
              <a:latin typeface="Arial Narrow" panose="020B0606020202030204" pitchFamily="34" charset="0"/>
            </a:endParaRPr>
          </a:p>
          <a:p>
            <a:r>
              <a:rPr lang="en-US" sz="2800" dirty="0">
                <a:latin typeface="Arial Narrow" panose="020B0606020202030204" pitchFamily="34" charset="0"/>
              </a:rPr>
              <a:t>This HTTP status code resource delves into their classifications, meanings, and impact on web operations, providing best practices for both resolving and preventing related issues. Whether you're dealing with client-side errors like 404 Not Found or server-side errors like 500 Internal Server Error, this guide offers the technical insights necessary for effective troubleshooting.</a:t>
            </a:r>
          </a:p>
        </p:txBody>
      </p:sp>
    </p:spTree>
    <p:extLst>
      <p:ext uri="{BB962C8B-B14F-4D97-AF65-F5344CB8AC3E}">
        <p14:creationId xmlns:p14="http://schemas.microsoft.com/office/powerpoint/2010/main" val="2811823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F462B-2F83-3B38-8EA4-1594CFD616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FF9175-A580-934B-0606-E38F62712882}"/>
              </a:ext>
            </a:extLst>
          </p:cNvPr>
          <p:cNvSpPr txBox="1"/>
          <p:nvPr/>
        </p:nvSpPr>
        <p:spPr>
          <a:xfrm>
            <a:off x="609600" y="650240"/>
            <a:ext cx="10972800" cy="5201424"/>
          </a:xfrm>
          <a:prstGeom prst="rect">
            <a:avLst/>
          </a:prstGeom>
          <a:noFill/>
        </p:spPr>
        <p:txBody>
          <a:bodyPr wrap="square" rtlCol="0">
            <a:spAutoFit/>
          </a:bodyPr>
          <a:lstStyle/>
          <a:p>
            <a:r>
              <a:rPr lang="en-US" sz="3200" b="1" dirty="0">
                <a:solidFill>
                  <a:srgbClr val="FF0000"/>
                </a:solidFill>
              </a:rPr>
              <a:t>What are HTTP status code?</a:t>
            </a:r>
            <a:endParaRPr lang="en-US" sz="2400" b="1" dirty="0">
              <a:solidFill>
                <a:srgbClr val="FF0000"/>
              </a:solidFill>
            </a:endParaRPr>
          </a:p>
          <a:p>
            <a:endParaRPr lang="en-US" dirty="0"/>
          </a:p>
          <a:p>
            <a:r>
              <a:rPr lang="en-US" dirty="0">
                <a:latin typeface="Arial" panose="020B0604020202020204" pitchFamily="34" charset="0"/>
                <a:cs typeface="Arial" panose="020B0604020202020204" pitchFamily="34" charset="0"/>
              </a:rPr>
              <a:t>                    HTTP status codes are response messages the server sends back to the user after they make a request. These codes tell the user the outcome of the request, letting them know whether it was successful or if an issue occurred.</a:t>
            </a:r>
          </a:p>
          <a:p>
            <a:endParaRPr lang="en-US" dirty="0">
              <a:latin typeface="Arial" panose="020B0604020202020204" pitchFamily="34" charset="0"/>
              <a:cs typeface="Arial" panose="020B0604020202020204" pitchFamily="34" charset="0"/>
            </a:endParaRPr>
          </a:p>
          <a:p>
            <a:r>
              <a:rPr lang="en-US" sz="2400" b="1" dirty="0">
                <a:latin typeface="Arial" panose="020B0604020202020204" pitchFamily="34" charset="0"/>
                <a:cs typeface="Arial" panose="020B0604020202020204" pitchFamily="34" charset="0"/>
              </a:rPr>
              <a:t>HTTP status codes fall into five main categories:</a:t>
            </a:r>
          </a:p>
          <a:p>
            <a:endParaRPr lang="en-US" sz="24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dirty="0">
                <a:latin typeface="Arial" panose="020B0604020202020204" pitchFamily="34" charset="0"/>
                <a:cs typeface="Arial" panose="020B0604020202020204" pitchFamily="34" charset="0"/>
              </a:rPr>
              <a:t>1xx – Informational: The server acknowledges and processes the request.</a:t>
            </a:r>
          </a:p>
          <a:p>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dirty="0">
                <a:latin typeface="Arial" panose="020B0604020202020204" pitchFamily="34" charset="0"/>
                <a:cs typeface="Arial" panose="020B0604020202020204" pitchFamily="34" charset="0"/>
              </a:rPr>
              <a:t>2xx – Success: The request was successfully processed.</a:t>
            </a:r>
          </a:p>
          <a:p>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dirty="0">
                <a:latin typeface="Arial" panose="020B0604020202020204" pitchFamily="34" charset="0"/>
                <a:cs typeface="Arial" panose="020B0604020202020204" pitchFamily="34" charset="0"/>
              </a:rPr>
              <a:t>3xx – Redirection: The requested resource has been moved or redirected.</a:t>
            </a:r>
          </a:p>
          <a:p>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dirty="0">
                <a:latin typeface="Arial" panose="020B0604020202020204" pitchFamily="34" charset="0"/>
                <a:cs typeface="Arial" panose="020B0604020202020204" pitchFamily="34" charset="0"/>
              </a:rPr>
              <a:t>4xx – Client Error: An error occurred on the client's side.</a:t>
            </a:r>
          </a:p>
          <a:p>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dirty="0">
                <a:latin typeface="Arial" panose="020B0604020202020204" pitchFamily="34" charset="0"/>
                <a:cs typeface="Arial" panose="020B0604020202020204" pitchFamily="34" charset="0"/>
              </a:rPr>
              <a:t>5xx – Server Error: The server encountered an error while processing the request.</a:t>
            </a:r>
          </a:p>
        </p:txBody>
      </p:sp>
    </p:spTree>
    <p:extLst>
      <p:ext uri="{BB962C8B-B14F-4D97-AF65-F5344CB8AC3E}">
        <p14:creationId xmlns:p14="http://schemas.microsoft.com/office/powerpoint/2010/main" val="2311044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84FE3-FC20-EF2C-7343-6B9DF3DF84C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31EBF1-BEBC-6887-36CB-004A5EF9DDA3}"/>
              </a:ext>
            </a:extLst>
          </p:cNvPr>
          <p:cNvSpPr txBox="1"/>
          <p:nvPr/>
        </p:nvSpPr>
        <p:spPr>
          <a:xfrm>
            <a:off x="619760" y="609600"/>
            <a:ext cx="10952480" cy="5601533"/>
          </a:xfrm>
          <a:prstGeom prst="rect">
            <a:avLst/>
          </a:prstGeom>
          <a:noFill/>
        </p:spPr>
        <p:txBody>
          <a:bodyPr wrap="square" rtlCol="0">
            <a:spAutoFit/>
          </a:bodyPr>
          <a:lstStyle/>
          <a:p>
            <a:pPr algn="ctr"/>
            <a:r>
              <a:rPr lang="en-US" sz="3600" b="1" dirty="0">
                <a:solidFill>
                  <a:srgbClr val="FF0000"/>
                </a:solidFill>
              </a:rPr>
              <a:t>Full list of HTTP status codes</a:t>
            </a:r>
          </a:p>
          <a:p>
            <a:r>
              <a:rPr lang="en-US" sz="2800" dirty="0">
                <a:latin typeface="Arial" panose="020B0604020202020204" pitchFamily="34" charset="0"/>
                <a:cs typeface="Arial" panose="020B0604020202020204" pitchFamily="34" charset="0"/>
              </a:rPr>
              <a:t>In total, there are 23 different HTTP status codes that a user can receive when they make a request to the server. Here is the full list, broken down by category:</a:t>
            </a:r>
          </a:p>
          <a:p>
            <a:endParaRPr lang="en-US" sz="2800" b="1" dirty="0">
              <a:solidFill>
                <a:srgbClr val="FF0000"/>
              </a:solidFill>
            </a:endParaRPr>
          </a:p>
          <a:p>
            <a:pPr marL="514350" indent="-514350">
              <a:buFont typeface="+mj-lt"/>
              <a:buAutoNum type="arabicPeriod"/>
            </a:pPr>
            <a:r>
              <a:rPr lang="en-US" sz="2800" b="1" dirty="0">
                <a:solidFill>
                  <a:srgbClr val="FF0000"/>
                </a:solidFill>
                <a:latin typeface="Arial Black" panose="020B0A04020102020204" pitchFamily="34" charset="0"/>
              </a:rPr>
              <a:t>1xx – Informational responses:</a:t>
            </a:r>
            <a:endParaRPr lang="en-US" sz="2400" b="1" dirty="0">
              <a:solidFill>
                <a:srgbClr val="FF0000"/>
              </a:solidFill>
              <a:latin typeface="Arial Black" panose="020B0A04020102020204" pitchFamily="34" charset="0"/>
            </a:endParaRPr>
          </a:p>
          <a:p>
            <a:r>
              <a:rPr lang="en-US" dirty="0">
                <a:latin typeface="Arial" panose="020B0604020202020204" pitchFamily="34" charset="0"/>
                <a:cs typeface="Arial" panose="020B0604020202020204" pitchFamily="34" charset="0"/>
              </a:rPr>
              <a:t>                  1xx HTTP status codes indicate that the server has received the user's request and is working on processing it. It's a category that includes these four codes</a:t>
            </a:r>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v"/>
            </a:pPr>
            <a:r>
              <a:rPr lang="en-US" sz="2800" b="1" dirty="0">
                <a:solidFill>
                  <a:srgbClr val="00B050"/>
                </a:solidFill>
                <a:latin typeface="Arial" panose="020B0604020202020204" pitchFamily="34" charset="0"/>
                <a:cs typeface="Arial" panose="020B0604020202020204" pitchFamily="34" charset="0"/>
              </a:rPr>
              <a:t>100 (Continue)</a:t>
            </a:r>
            <a:r>
              <a:rPr lang="en-US" sz="2400" b="1" dirty="0">
                <a:solidFill>
                  <a:srgbClr val="00B05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This code indicates that the server has received the initial part of the request and tells the user they can proceed with the rest of it. It's useful when a large request body needs verification before sending.</a:t>
            </a:r>
          </a:p>
          <a:p>
            <a:endParaRPr lang="en-US"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v"/>
            </a:pPr>
            <a:r>
              <a:rPr lang="en-US" sz="2400" b="1" dirty="0">
                <a:solidFill>
                  <a:srgbClr val="00B050"/>
                </a:solidFill>
                <a:latin typeface="Arial" panose="020B0604020202020204" pitchFamily="34" charset="0"/>
                <a:cs typeface="Arial" panose="020B0604020202020204" pitchFamily="34" charset="0"/>
              </a:rPr>
              <a:t>102 (Processing): </a:t>
            </a:r>
            <a:r>
              <a:rPr lang="en-US" dirty="0">
                <a:latin typeface="Arial" panose="020B0604020202020204" pitchFamily="34" charset="0"/>
                <a:cs typeface="Arial" panose="020B0604020202020204" pitchFamily="34" charset="0"/>
              </a:rPr>
              <a:t>This tells the user that the server has accepted the request but is still working on processing it.</a:t>
            </a:r>
          </a:p>
        </p:txBody>
      </p:sp>
    </p:spTree>
    <p:extLst>
      <p:ext uri="{BB962C8B-B14F-4D97-AF65-F5344CB8AC3E}">
        <p14:creationId xmlns:p14="http://schemas.microsoft.com/office/powerpoint/2010/main" val="3190823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A4FBE-F5BA-630F-D827-5C8455990E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A0273C2-CDBD-F0D5-0984-37A30A7C968E}"/>
              </a:ext>
            </a:extLst>
          </p:cNvPr>
          <p:cNvSpPr txBox="1"/>
          <p:nvPr/>
        </p:nvSpPr>
        <p:spPr>
          <a:xfrm>
            <a:off x="629920" y="619760"/>
            <a:ext cx="10962640" cy="5201424"/>
          </a:xfrm>
          <a:prstGeom prst="rect">
            <a:avLst/>
          </a:prstGeom>
          <a:noFill/>
        </p:spPr>
        <p:txBody>
          <a:bodyPr wrap="square" rtlCol="0">
            <a:spAutoFit/>
          </a:bodyPr>
          <a:lstStyle/>
          <a:p>
            <a:pPr marL="342900" indent="-342900">
              <a:buFont typeface="Wingdings" panose="05000000000000000000" pitchFamily="2" charset="2"/>
              <a:buChar char="v"/>
            </a:pPr>
            <a:r>
              <a:rPr lang="en-US" sz="3200" b="1" dirty="0">
                <a:solidFill>
                  <a:srgbClr val="00B050"/>
                </a:solidFill>
                <a:latin typeface="Arial" panose="020B0604020202020204" pitchFamily="34" charset="0"/>
                <a:cs typeface="Arial" panose="020B0604020202020204" pitchFamily="34" charset="0"/>
              </a:rPr>
              <a:t>101 (Switching Protocols): </a:t>
            </a:r>
            <a:r>
              <a:rPr lang="en-US" sz="2400" dirty="0">
                <a:latin typeface="Arial" panose="020B0604020202020204" pitchFamily="34" charset="0"/>
                <a:cs typeface="Arial" panose="020B0604020202020204" pitchFamily="34" charset="0"/>
              </a:rPr>
              <a:t>This indicates that the server is changing the communication protocol based on a request from the client (like switching from HTTP/1.1 to </a:t>
            </a:r>
            <a:r>
              <a:rPr lang="en-US" sz="2400" dirty="0" err="1">
                <a:latin typeface="Arial" panose="020B0604020202020204" pitchFamily="34" charset="0"/>
                <a:cs typeface="Arial" panose="020B0604020202020204" pitchFamily="34" charset="0"/>
              </a:rPr>
              <a:t>WebSockets</a:t>
            </a:r>
            <a:r>
              <a:rPr lang="en-US" sz="2400" dirty="0">
                <a:latin typeface="Arial" panose="020B0604020202020204" pitchFamily="34" charset="0"/>
                <a:cs typeface="Arial" panose="020B0604020202020204" pitchFamily="34" charset="0"/>
              </a:rPr>
              <a:t>).</a:t>
            </a:r>
          </a:p>
          <a:p>
            <a:endParaRPr lang="en-US" sz="2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3200" b="1" dirty="0">
                <a:solidFill>
                  <a:srgbClr val="00B050"/>
                </a:solidFill>
                <a:latin typeface="Arial" panose="020B0604020202020204" pitchFamily="34" charset="0"/>
                <a:cs typeface="Arial" panose="020B0604020202020204" pitchFamily="34" charset="0"/>
              </a:rPr>
              <a:t>103 (Early Hints)</a:t>
            </a:r>
            <a:r>
              <a:rPr lang="en-US" sz="2400" dirty="0">
                <a:latin typeface="Arial" panose="020B0604020202020204" pitchFamily="34" charset="0"/>
                <a:cs typeface="Arial" panose="020B0604020202020204" pitchFamily="34" charset="0"/>
              </a:rPr>
              <a:t>: Accompanying this status code are preliminary response headers that are sent to the user before the full response is ready. Their main function is to speed up how fast the browser preloads resources.</a:t>
            </a:r>
          </a:p>
          <a:p>
            <a:endParaRPr lang="en-US" sz="2400" dirty="0">
              <a:latin typeface="Arial" panose="020B0604020202020204" pitchFamily="34" charset="0"/>
              <a:cs typeface="Arial" panose="020B0604020202020204" pitchFamily="34" charset="0"/>
            </a:endParaRPr>
          </a:p>
          <a:p>
            <a:r>
              <a:rPr lang="en-US" sz="2800" b="1" dirty="0">
                <a:solidFill>
                  <a:srgbClr val="FF0000"/>
                </a:solidFill>
                <a:latin typeface="Arial" panose="020B0604020202020204" pitchFamily="34" charset="0"/>
                <a:cs typeface="Arial" panose="020B0604020202020204" pitchFamily="34" charset="0"/>
              </a:rPr>
              <a:t>2. 2xx – Success responses:</a:t>
            </a:r>
          </a:p>
          <a:p>
            <a:r>
              <a:rPr lang="en-US" sz="2400" dirty="0">
                <a:latin typeface="Arial" panose="020B0604020202020204" pitchFamily="34" charset="0"/>
                <a:cs typeface="Arial" panose="020B0604020202020204" pitchFamily="34" charset="0"/>
              </a:rPr>
              <a:t>                 2xx status codes indicate that the server has received, understood, and processed the request successfully. They usually mean that the user can proceed as planned, and they include these five codes:</a:t>
            </a: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3776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E1380-71F1-C979-F2CC-FC8CD0E2B7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2CC8AF-B1F6-FCA7-9606-278631BC578C}"/>
              </a:ext>
            </a:extLst>
          </p:cNvPr>
          <p:cNvSpPr txBox="1"/>
          <p:nvPr/>
        </p:nvSpPr>
        <p:spPr>
          <a:xfrm>
            <a:off x="629920" y="599440"/>
            <a:ext cx="10922000" cy="5570756"/>
          </a:xfrm>
          <a:prstGeom prst="rect">
            <a:avLst/>
          </a:prstGeom>
          <a:noFill/>
        </p:spPr>
        <p:txBody>
          <a:bodyPr wrap="square" rtlCol="0">
            <a:spAutoFit/>
          </a:bodyPr>
          <a:lstStyle/>
          <a:p>
            <a:pPr marL="285750" indent="-285750">
              <a:buFont typeface="Wingdings" panose="05000000000000000000" pitchFamily="2" charset="2"/>
              <a:buChar char="v"/>
            </a:pPr>
            <a:endParaRPr lang="en-US" sz="2000" b="1" dirty="0">
              <a:solidFill>
                <a:srgbClr val="00B05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2000" b="1" dirty="0">
                <a:solidFill>
                  <a:srgbClr val="00B050"/>
                </a:solidFill>
                <a:latin typeface="Arial" panose="020B0604020202020204" pitchFamily="34" charset="0"/>
                <a:cs typeface="Arial" panose="020B0604020202020204" pitchFamily="34" charset="0"/>
              </a:rPr>
              <a:t>200 (OK): </a:t>
            </a:r>
            <a:r>
              <a:rPr lang="en-US" sz="1800" dirty="0">
                <a:latin typeface="Arial" panose="020B0604020202020204" pitchFamily="34" charset="0"/>
                <a:cs typeface="Arial" panose="020B0604020202020204" pitchFamily="34" charset="0"/>
              </a:rPr>
              <a:t>This response indicates that the request was successful and that the server has successfully returned the requested resource. 200 (OK) is the most common HTTP status code, and receiving it means that everything is working as expected.</a:t>
            </a:r>
          </a:p>
          <a:p>
            <a:pPr marL="285750" indent="-285750">
              <a:buFont typeface="Wingdings" panose="05000000000000000000" pitchFamily="2" charset="2"/>
              <a:buChar char="v"/>
            </a:pPr>
            <a:endParaRPr lang="en-US" sz="18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2000" b="1" dirty="0">
                <a:solidFill>
                  <a:srgbClr val="00B050"/>
                </a:solidFill>
                <a:latin typeface="Arial" panose="020B0604020202020204" pitchFamily="34" charset="0"/>
                <a:cs typeface="Arial" panose="020B0604020202020204" pitchFamily="34" charset="0"/>
              </a:rPr>
              <a:t>201 (Created): </a:t>
            </a:r>
            <a:r>
              <a:rPr lang="en-US" sz="1800" dirty="0">
                <a:latin typeface="Arial" panose="020B0604020202020204" pitchFamily="34" charset="0"/>
                <a:cs typeface="Arial" panose="020B0604020202020204" pitchFamily="34" charset="0"/>
              </a:rPr>
              <a:t>This indicates that the request was successful and that it resulted in a new resource being created. For example, a user might receive this response when they create a new account on your website.</a:t>
            </a:r>
          </a:p>
          <a:p>
            <a:pPr marL="285750" indent="-285750">
              <a:buFont typeface="Wingdings" panose="05000000000000000000" pitchFamily="2" charset="2"/>
              <a:buChar char="v"/>
            </a:pPr>
            <a:endParaRPr lang="en-US" sz="2000" b="1" dirty="0">
              <a:solidFill>
                <a:srgbClr val="00B05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2000" b="1" dirty="0">
                <a:solidFill>
                  <a:srgbClr val="00B050"/>
                </a:solidFill>
                <a:latin typeface="Arial" panose="020B0604020202020204" pitchFamily="34" charset="0"/>
                <a:cs typeface="Arial" panose="020B0604020202020204" pitchFamily="34" charset="0"/>
              </a:rPr>
              <a:t>202 (Accepted): </a:t>
            </a:r>
            <a:r>
              <a:rPr lang="en-US" sz="1800" dirty="0">
                <a:latin typeface="Arial" panose="020B0604020202020204" pitchFamily="34" charset="0"/>
                <a:cs typeface="Arial" panose="020B0604020202020204" pitchFamily="34" charset="0"/>
              </a:rPr>
              <a:t>This status code means that the request has been received but is being processed asynchronously. It's common for tasks such as batch processing.</a:t>
            </a:r>
          </a:p>
          <a:p>
            <a:pPr marL="285750" indent="-285750">
              <a:buFont typeface="Wingdings" panose="05000000000000000000" pitchFamily="2" charset="2"/>
              <a:buChar char="v"/>
            </a:pPr>
            <a:endParaRPr lang="en-US" sz="18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2000" b="1" dirty="0">
                <a:solidFill>
                  <a:srgbClr val="00B050"/>
                </a:solidFill>
                <a:latin typeface="Arial" panose="020B0604020202020204" pitchFamily="34" charset="0"/>
                <a:cs typeface="Arial" panose="020B0604020202020204" pitchFamily="34" charset="0"/>
              </a:rPr>
              <a:t>203 (Non-Authoritative Information): </a:t>
            </a:r>
            <a:r>
              <a:rPr lang="en-US" sz="1800" dirty="0">
                <a:latin typeface="Arial" panose="020B0604020202020204" pitchFamily="34" charset="0"/>
                <a:cs typeface="Arial" panose="020B0604020202020204" pitchFamily="34" charset="0"/>
              </a:rPr>
              <a:t>This indicates that the server is returning information that comes from a third-party source or a source different from the origin server.</a:t>
            </a:r>
          </a:p>
          <a:p>
            <a:pPr marL="285750" indent="-285750">
              <a:buFont typeface="Wingdings" panose="05000000000000000000" pitchFamily="2" charset="2"/>
              <a:buChar char="v"/>
            </a:pPr>
            <a:endParaRPr lang="en-US" sz="18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sz="2000" b="1" dirty="0">
                <a:solidFill>
                  <a:srgbClr val="00B050"/>
                </a:solidFill>
                <a:latin typeface="Arial" panose="020B0604020202020204" pitchFamily="34" charset="0"/>
                <a:cs typeface="Arial" panose="020B0604020202020204" pitchFamily="34" charset="0"/>
              </a:rPr>
              <a:t>204 (No Content): </a:t>
            </a:r>
            <a:r>
              <a:rPr lang="en-US" sz="1800" dirty="0">
                <a:latin typeface="Arial" panose="020B0604020202020204" pitchFamily="34" charset="0"/>
                <a:cs typeface="Arial" panose="020B0604020202020204" pitchFamily="34" charset="0"/>
              </a:rPr>
              <a:t>This means that the server has successfully processed the request, but there is no content to return. For example, a user might receive this response when an update is successful but no page refresh is needed.</a:t>
            </a:r>
          </a:p>
          <a:p>
            <a:endParaRPr lang="en-US" dirty="0"/>
          </a:p>
        </p:txBody>
      </p:sp>
    </p:spTree>
    <p:extLst>
      <p:ext uri="{BB962C8B-B14F-4D97-AF65-F5344CB8AC3E}">
        <p14:creationId xmlns:p14="http://schemas.microsoft.com/office/powerpoint/2010/main" val="268910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4B630-9A5D-635A-031C-E661CCBC9E0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20F470-75B6-A7DE-3C6A-C6D8ACA72C44}"/>
              </a:ext>
            </a:extLst>
          </p:cNvPr>
          <p:cNvSpPr txBox="1"/>
          <p:nvPr/>
        </p:nvSpPr>
        <p:spPr>
          <a:xfrm>
            <a:off x="619760" y="599440"/>
            <a:ext cx="10952480" cy="5724644"/>
          </a:xfrm>
          <a:prstGeom prst="rect">
            <a:avLst/>
          </a:prstGeom>
          <a:noFill/>
        </p:spPr>
        <p:txBody>
          <a:bodyPr wrap="square" rtlCol="0">
            <a:spAutoFit/>
          </a:bodyPr>
          <a:lstStyle/>
          <a:p>
            <a:r>
              <a:rPr lang="en-US" sz="2400" b="1" dirty="0">
                <a:solidFill>
                  <a:srgbClr val="FF0000"/>
                </a:solidFill>
              </a:rPr>
              <a:t>3. </a:t>
            </a:r>
            <a:r>
              <a:rPr lang="en-US" sz="2400" b="1" dirty="0">
                <a:solidFill>
                  <a:srgbClr val="FF0000"/>
                </a:solidFill>
                <a:latin typeface="Arial Black" panose="020B0A04020102020204" pitchFamily="34" charset="0"/>
              </a:rPr>
              <a:t>3xx – Redirection responses:</a:t>
            </a:r>
          </a:p>
          <a:p>
            <a:r>
              <a:rPr lang="en-US" dirty="0">
                <a:latin typeface="Arial" panose="020B0604020202020204" pitchFamily="34" charset="0"/>
                <a:cs typeface="Arial" panose="020B0604020202020204" pitchFamily="34" charset="0"/>
              </a:rPr>
              <a:t>                  3xx HTTP status codes indicate that the user will need to complete further actions before the request can be processed—and these further actions typically involve a different URL. Here are the four status codes that fall under this category:</a:t>
            </a:r>
          </a:p>
          <a:p>
            <a:endParaRPr lang="en-US" sz="2000" dirty="0">
              <a:solidFill>
                <a:srgbClr val="00B050"/>
              </a:solidFill>
              <a:latin typeface="Arial" panose="020B0604020202020204" pitchFamily="34" charset="0"/>
              <a:cs typeface="Arial" panose="020B0604020202020204" pitchFamily="34" charset="0"/>
            </a:endParaRPr>
          </a:p>
          <a:p>
            <a:pPr marL="342900" indent="-342900">
              <a:buFont typeface="Wingdings" panose="05000000000000000000" pitchFamily="2" charset="2"/>
              <a:buChar char="v"/>
            </a:pPr>
            <a:r>
              <a:rPr lang="en-US" sz="2000" b="1" dirty="0">
                <a:solidFill>
                  <a:srgbClr val="00B050"/>
                </a:solidFill>
                <a:latin typeface="Arial" panose="020B0604020202020204" pitchFamily="34" charset="0"/>
                <a:cs typeface="Arial" panose="020B0604020202020204" pitchFamily="34" charset="0"/>
              </a:rPr>
              <a:t>300 (Multiple Choices): </a:t>
            </a:r>
            <a:r>
              <a:rPr lang="en-US" dirty="0">
                <a:latin typeface="Arial" panose="020B0604020202020204" pitchFamily="34" charset="0"/>
                <a:cs typeface="Arial" panose="020B0604020202020204" pitchFamily="34" charset="0"/>
              </a:rPr>
              <a:t>This status code means that there are multiple options for the requested resource—like different file formats or different language options—and the user is required to select one.</a:t>
            </a:r>
          </a:p>
          <a:p>
            <a:endParaRPr lang="en-US"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v"/>
            </a:pPr>
            <a:r>
              <a:rPr lang="en-US" sz="2000" b="1" dirty="0">
                <a:solidFill>
                  <a:srgbClr val="00B050"/>
                </a:solidFill>
                <a:latin typeface="Arial" panose="020B0604020202020204" pitchFamily="34" charset="0"/>
                <a:cs typeface="Arial" panose="020B0604020202020204" pitchFamily="34" charset="0"/>
              </a:rPr>
              <a:t>301 (Moved Permanently): </a:t>
            </a:r>
            <a:r>
              <a:rPr lang="en-US" dirty="0">
                <a:latin typeface="Arial" panose="020B0604020202020204" pitchFamily="34" charset="0"/>
                <a:cs typeface="Arial" panose="020B0604020202020204" pitchFamily="34" charset="0"/>
              </a:rPr>
              <a:t>This means that the requested resource has been permanently moved to a new URL. 301 redirects are commonly used for SEO purposes, ensuring that old links transfer their ranking power to the new location.</a:t>
            </a:r>
          </a:p>
          <a:p>
            <a:endParaRPr lang="en-US"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v"/>
            </a:pPr>
            <a:r>
              <a:rPr lang="en-US" sz="2000" b="1" dirty="0">
                <a:solidFill>
                  <a:srgbClr val="00B050"/>
                </a:solidFill>
                <a:latin typeface="Arial" panose="020B0604020202020204" pitchFamily="34" charset="0"/>
                <a:cs typeface="Arial" panose="020B0604020202020204" pitchFamily="34" charset="0"/>
              </a:rPr>
              <a:t>302 (Found): </a:t>
            </a:r>
            <a:r>
              <a:rPr lang="en-US" dirty="0">
                <a:latin typeface="Arial" panose="020B0604020202020204" pitchFamily="34" charset="0"/>
                <a:cs typeface="Arial" panose="020B0604020202020204" pitchFamily="34" charset="0"/>
              </a:rPr>
              <a:t>302 redirects are used to temporarily redirect users to a new URL. They are useful when a page has been moved temporarily but will eventually be returned to its original location.</a:t>
            </a:r>
          </a:p>
          <a:p>
            <a:endParaRPr lang="en-US"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v"/>
            </a:pPr>
            <a:r>
              <a:rPr lang="en-US" sz="2000" b="1" dirty="0">
                <a:solidFill>
                  <a:srgbClr val="00B050"/>
                </a:solidFill>
                <a:latin typeface="Arial" panose="020B0604020202020204" pitchFamily="34" charset="0"/>
                <a:cs typeface="Arial" panose="020B0604020202020204" pitchFamily="34" charset="0"/>
              </a:rPr>
              <a:t>303 (See Other): </a:t>
            </a:r>
            <a:r>
              <a:rPr lang="en-US" dirty="0">
                <a:latin typeface="Arial" panose="020B0604020202020204" pitchFamily="34" charset="0"/>
                <a:cs typeface="Arial" panose="020B0604020202020204" pitchFamily="34" charset="0"/>
              </a:rPr>
              <a:t>This status code directs the user to access the requested resource at a different URL. 303 redirects are most commonly used following a form submission to prevent duplicate submissions when the page is reloaded.</a:t>
            </a:r>
          </a:p>
        </p:txBody>
      </p:sp>
    </p:spTree>
    <p:extLst>
      <p:ext uri="{BB962C8B-B14F-4D97-AF65-F5344CB8AC3E}">
        <p14:creationId xmlns:p14="http://schemas.microsoft.com/office/powerpoint/2010/main" val="2308929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68547-05B7-8B9B-FB67-6557938C7F2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3FF811C-2AF3-BA05-FAE7-B455DAD79B92}"/>
              </a:ext>
            </a:extLst>
          </p:cNvPr>
          <p:cNvSpPr txBox="1"/>
          <p:nvPr/>
        </p:nvSpPr>
        <p:spPr>
          <a:xfrm>
            <a:off x="619760" y="619760"/>
            <a:ext cx="10952480" cy="5355312"/>
          </a:xfrm>
          <a:prstGeom prst="rect">
            <a:avLst/>
          </a:prstGeom>
          <a:noFill/>
        </p:spPr>
        <p:txBody>
          <a:bodyPr wrap="square" rtlCol="0">
            <a:spAutoFit/>
          </a:bodyPr>
          <a:lstStyle/>
          <a:p>
            <a:endParaRPr lang="en-US" sz="1600" dirty="0"/>
          </a:p>
          <a:p>
            <a:r>
              <a:rPr lang="en-US" sz="2000" b="1" dirty="0">
                <a:solidFill>
                  <a:srgbClr val="FF0000"/>
                </a:solidFill>
                <a:latin typeface="Arial Black" panose="020B0A04020102020204" pitchFamily="34" charset="0"/>
              </a:rPr>
              <a:t>4.</a:t>
            </a:r>
            <a:r>
              <a:rPr lang="en-US" dirty="0"/>
              <a:t> </a:t>
            </a:r>
            <a:r>
              <a:rPr lang="en-US" sz="2000" b="1" dirty="0">
                <a:solidFill>
                  <a:srgbClr val="FF0000"/>
                </a:solidFill>
                <a:latin typeface="Arial Black" panose="020B0A04020102020204" pitchFamily="34" charset="0"/>
              </a:rPr>
              <a:t>4xx – Client errors</a:t>
            </a:r>
          </a:p>
          <a:p>
            <a:r>
              <a:rPr lang="en-US" dirty="0">
                <a:latin typeface="Arial" panose="020B0604020202020204" pitchFamily="34" charset="0"/>
                <a:cs typeface="Arial" panose="020B0604020202020204" pitchFamily="34" charset="0"/>
              </a:rPr>
              <a:t>               4xx status codes are returned when there is an issue with the user's request (such as a mistyped URL or missing authentication). Here are the five different types of client errors that can occur:</a:t>
            </a:r>
          </a:p>
          <a:p>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b="1" dirty="0">
                <a:solidFill>
                  <a:srgbClr val="FF0000"/>
                </a:solidFill>
                <a:latin typeface="Arial" panose="020B0604020202020204" pitchFamily="34" charset="0"/>
                <a:cs typeface="Arial" panose="020B0604020202020204" pitchFamily="34" charset="0"/>
              </a:rPr>
              <a:t>400 (Bad Request): </a:t>
            </a:r>
            <a:r>
              <a:rPr lang="en-US" dirty="0">
                <a:latin typeface="Arial" panose="020B0604020202020204" pitchFamily="34" charset="0"/>
                <a:cs typeface="Arial" panose="020B0604020202020204" pitchFamily="34" charset="0"/>
              </a:rPr>
              <a:t>This status code indicates that the request made by the user is invalid and cannot be processed. 400 errors are most commonly caused by things like incorrect API requests or bad URL structures.</a:t>
            </a:r>
          </a:p>
          <a:p>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b="1" dirty="0">
                <a:solidFill>
                  <a:srgbClr val="FF0000"/>
                </a:solidFill>
                <a:latin typeface="Arial" panose="020B0604020202020204" pitchFamily="34" charset="0"/>
                <a:cs typeface="Arial" panose="020B0604020202020204" pitchFamily="34" charset="0"/>
              </a:rPr>
              <a:t>401 (Unauthorized): </a:t>
            </a:r>
            <a:r>
              <a:rPr lang="en-US" dirty="0">
                <a:latin typeface="Arial" panose="020B0604020202020204" pitchFamily="34" charset="0"/>
                <a:cs typeface="Arial" panose="020B0604020202020204" pitchFamily="34" charset="0"/>
              </a:rPr>
              <a:t>This status code is displayed when a user requests a resource that requires authorization to access. The user must provide valid credentials before the server will return the requested resource.</a:t>
            </a:r>
          </a:p>
          <a:p>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b="1" dirty="0">
                <a:solidFill>
                  <a:srgbClr val="FF0000"/>
                </a:solidFill>
                <a:latin typeface="Arial" panose="020B0604020202020204" pitchFamily="34" charset="0"/>
                <a:cs typeface="Arial" panose="020B0604020202020204" pitchFamily="34" charset="0"/>
              </a:rPr>
              <a:t>402 (Payment Required): </a:t>
            </a:r>
            <a:r>
              <a:rPr lang="en-US" dirty="0">
                <a:latin typeface="Arial" panose="020B0604020202020204" pitchFamily="34" charset="0"/>
                <a:cs typeface="Arial" panose="020B0604020202020204" pitchFamily="34" charset="0"/>
              </a:rPr>
              <a:t>This code was originally intended for digital payment systems to indicate that payment is required to access a specific resource. However, it is rarely used today.</a:t>
            </a:r>
          </a:p>
          <a:p>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b="1" dirty="0">
                <a:solidFill>
                  <a:srgbClr val="FF0000"/>
                </a:solidFill>
                <a:latin typeface="Arial" panose="020B0604020202020204" pitchFamily="34" charset="0"/>
                <a:cs typeface="Arial" panose="020B0604020202020204" pitchFamily="34" charset="0"/>
              </a:rPr>
              <a:t>403 (Forbidden): </a:t>
            </a:r>
            <a:r>
              <a:rPr lang="en-US" dirty="0">
                <a:latin typeface="Arial" panose="020B0604020202020204" pitchFamily="34" charset="0"/>
                <a:cs typeface="Arial" panose="020B0604020202020204" pitchFamily="34" charset="0"/>
              </a:rPr>
              <a:t>This means that the server understands the user's request but refuses to process it. 403 errors most commonly occur when a user tries to access restricted content without the necessary permissions.</a:t>
            </a:r>
          </a:p>
        </p:txBody>
      </p:sp>
    </p:spTree>
    <p:extLst>
      <p:ext uri="{BB962C8B-B14F-4D97-AF65-F5344CB8AC3E}">
        <p14:creationId xmlns:p14="http://schemas.microsoft.com/office/powerpoint/2010/main" val="2666220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7E445-595D-5FEC-4D03-38ECC5B0654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8E39FE-F846-88E9-D66B-68D8CD1B7499}"/>
              </a:ext>
            </a:extLst>
          </p:cNvPr>
          <p:cNvSpPr txBox="1"/>
          <p:nvPr/>
        </p:nvSpPr>
        <p:spPr>
          <a:xfrm>
            <a:off x="609600" y="589280"/>
            <a:ext cx="10952480" cy="5940088"/>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b="1" dirty="0">
                <a:solidFill>
                  <a:srgbClr val="FF0000"/>
                </a:solidFill>
                <a:latin typeface="Arial" panose="020B0604020202020204" pitchFamily="34" charset="0"/>
                <a:cs typeface="Arial" panose="020B0604020202020204" pitchFamily="34" charset="0"/>
              </a:rPr>
              <a:t>404 (Not Found): </a:t>
            </a:r>
            <a:r>
              <a:rPr lang="en-US" dirty="0">
                <a:latin typeface="Arial" panose="020B0604020202020204" pitchFamily="34" charset="0"/>
                <a:cs typeface="Arial" panose="020B0604020202020204" pitchFamily="34" charset="0"/>
              </a:rPr>
              <a:t>This status code means that the server could not find the resource that the user requested. 404 errors can occur when the user types in a URL incorrectly or when the page has been deleted/moved without proper redirection.</a:t>
            </a:r>
          </a:p>
          <a:p>
            <a:endParaRPr lang="en-US" dirty="0"/>
          </a:p>
          <a:p>
            <a:r>
              <a:rPr lang="en-US" sz="2000" b="1" dirty="0">
                <a:solidFill>
                  <a:srgbClr val="FF0000"/>
                </a:solidFill>
                <a:latin typeface="Arial Black" panose="020B0A04020102020204" pitchFamily="34" charset="0"/>
                <a:cs typeface="Arial" panose="020B0604020202020204" pitchFamily="34" charset="0"/>
              </a:rPr>
              <a:t>5. 5xx – Server errors:</a:t>
            </a:r>
          </a:p>
          <a:p>
            <a:r>
              <a:rPr lang="en-US" dirty="0">
                <a:latin typeface="Arial" panose="020B0604020202020204" pitchFamily="34" charset="0"/>
                <a:cs typeface="Arial" panose="020B0604020202020204" pitchFamily="34" charset="0"/>
              </a:rPr>
              <a:t>             5xx status codes indicate that the server encountered an issue while processing a valid request. They result from problems with the server, not the client, and they include these five status codes:</a:t>
            </a:r>
          </a:p>
          <a:p>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b="1" dirty="0">
                <a:solidFill>
                  <a:srgbClr val="00B050"/>
                </a:solidFill>
                <a:latin typeface="Arial" panose="020B0604020202020204" pitchFamily="34" charset="0"/>
                <a:cs typeface="Arial" panose="020B0604020202020204" pitchFamily="34" charset="0"/>
              </a:rPr>
              <a:t>500 (Internal Server Error): </a:t>
            </a:r>
            <a:r>
              <a:rPr lang="en-US" dirty="0">
                <a:latin typeface="Arial" panose="020B0604020202020204" pitchFamily="34" charset="0"/>
                <a:cs typeface="Arial" panose="020B0604020202020204" pitchFamily="34" charset="0"/>
              </a:rPr>
              <a:t>This is a generic error message that's returned when the server encounters an unexpected issue. Coding errors, server misconfigurations, and resource limits are a few issues that can commonly cause 500 errors.</a:t>
            </a:r>
          </a:p>
          <a:p>
            <a:pPr marL="285750" indent="-285750">
              <a:buFont typeface="Wingdings" panose="05000000000000000000" pitchFamily="2" charset="2"/>
              <a:buChar char="v"/>
            </a:pPr>
            <a:endParaRPr lang="en-US" b="1" dirty="0">
              <a:solidFill>
                <a:srgbClr val="00B05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b="1" dirty="0">
                <a:solidFill>
                  <a:srgbClr val="00B050"/>
                </a:solidFill>
                <a:latin typeface="Arial" panose="020B0604020202020204" pitchFamily="34" charset="0"/>
                <a:cs typeface="Arial" panose="020B0604020202020204" pitchFamily="34" charset="0"/>
              </a:rPr>
              <a:t>501 (Not Implemented): </a:t>
            </a:r>
            <a:r>
              <a:rPr lang="en-US" dirty="0">
                <a:latin typeface="Arial" panose="020B0604020202020204" pitchFamily="34" charset="0"/>
                <a:cs typeface="Arial" panose="020B0604020202020204" pitchFamily="34" charset="0"/>
              </a:rPr>
              <a:t>This status code means that the server does not support the functionality required to complete the user's request. 501 errors often indicate that a method like PUT or DELETE isn't supported by the server.</a:t>
            </a:r>
          </a:p>
          <a:p>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b="1" dirty="0">
                <a:solidFill>
                  <a:srgbClr val="00B050"/>
                </a:solidFill>
                <a:latin typeface="Arial" panose="020B0604020202020204" pitchFamily="34" charset="0"/>
                <a:cs typeface="Arial" panose="020B0604020202020204" pitchFamily="34" charset="0"/>
              </a:rPr>
              <a:t>502 (Bad Gateway): </a:t>
            </a:r>
            <a:r>
              <a:rPr lang="en-US" dirty="0">
                <a:latin typeface="Arial" panose="020B0604020202020204" pitchFamily="34" charset="0"/>
                <a:cs typeface="Arial" panose="020B0604020202020204" pitchFamily="34" charset="0"/>
              </a:rPr>
              <a:t>When the server is acting as a gateway or proxy and receives an invalid response from an upstream server, this is the error message that's returned. 502 errors commonly occur when an upstream server is down or overloaded.</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4413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B33F9-0964-D3ED-9336-F12D0DD3A7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E89F68-3BAF-6F04-7DFB-6556C15477D8}"/>
              </a:ext>
            </a:extLst>
          </p:cNvPr>
          <p:cNvSpPr txBox="1"/>
          <p:nvPr/>
        </p:nvSpPr>
        <p:spPr>
          <a:xfrm>
            <a:off x="650240" y="640080"/>
            <a:ext cx="10901680" cy="2308324"/>
          </a:xfrm>
          <a:prstGeom prst="rect">
            <a:avLst/>
          </a:prstGeom>
          <a:noFill/>
        </p:spPr>
        <p:txBody>
          <a:bodyPr wrap="square" rtlCol="0">
            <a:spAutoFit/>
          </a:bodyPr>
          <a:lstStyle/>
          <a:p>
            <a:pPr marL="285750" indent="-285750">
              <a:buFont typeface="Wingdings" panose="05000000000000000000" pitchFamily="2" charset="2"/>
              <a:buChar char="v"/>
            </a:pPr>
            <a:r>
              <a:rPr lang="en-US" b="1" dirty="0">
                <a:solidFill>
                  <a:srgbClr val="00B050"/>
                </a:solidFill>
                <a:latin typeface="Arial" panose="020B0604020202020204" pitchFamily="34" charset="0"/>
                <a:cs typeface="Arial" panose="020B0604020202020204" pitchFamily="34" charset="0"/>
              </a:rPr>
              <a:t>503 (Service Unavailable): </a:t>
            </a:r>
            <a:r>
              <a:rPr lang="en-US" dirty="0">
                <a:latin typeface="Arial" panose="020B0604020202020204" pitchFamily="34" charset="0"/>
                <a:cs typeface="Arial" panose="020B0604020202020204" pitchFamily="34" charset="0"/>
              </a:rPr>
              <a:t>503 errors indicate that the server is temporarily unable to handle the request due to overload or maintenance. In most cases, the issue will be resolved automatically once the server recovers.</a:t>
            </a:r>
          </a:p>
          <a:p>
            <a:pPr marL="285750" indent="-285750">
              <a:buFont typeface="Wingdings" panose="05000000000000000000" pitchFamily="2" charset="2"/>
              <a:buChar char="v"/>
            </a:pPr>
            <a:endParaRPr lang="en-US" b="1" dirty="0">
              <a:solidFill>
                <a:srgbClr val="00B05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US" b="1" dirty="0">
                <a:solidFill>
                  <a:srgbClr val="00B050"/>
                </a:solidFill>
                <a:latin typeface="Arial" panose="020B0604020202020204" pitchFamily="34" charset="0"/>
                <a:cs typeface="Arial" panose="020B0604020202020204" pitchFamily="34" charset="0"/>
              </a:rPr>
              <a:t>504 (Gateway Timeout): </a:t>
            </a:r>
            <a:r>
              <a:rPr lang="en-US" dirty="0">
                <a:latin typeface="Arial" panose="020B0604020202020204" pitchFamily="34" charset="0"/>
                <a:cs typeface="Arial" panose="020B0604020202020204" pitchFamily="34" charset="0"/>
              </a:rPr>
              <a:t>This is another error that occurs when the server is acting as a gateway or proxy, and it means that it took too long for the gateway/proxy server to receive a response from an upstream server. Issues with the server chain or network delays are often the cause of 504 errors.</a:t>
            </a:r>
          </a:p>
          <a:p>
            <a:endParaRPr lang="en-US" dirty="0"/>
          </a:p>
        </p:txBody>
      </p:sp>
    </p:spTree>
    <p:extLst>
      <p:ext uri="{BB962C8B-B14F-4D97-AF65-F5344CB8AC3E}">
        <p14:creationId xmlns:p14="http://schemas.microsoft.com/office/powerpoint/2010/main" val="142021346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61</TotalTime>
  <Words>1439</Words>
  <Application>Microsoft Office PowerPoint</Application>
  <PresentationFormat>Widescreen</PresentationFormat>
  <Paragraphs>88</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Algerian</vt:lpstr>
      <vt:lpstr>Arial</vt:lpstr>
      <vt:lpstr>Arial Black</vt:lpstr>
      <vt:lpstr>Arial Narrow</vt:lpstr>
      <vt:lpstr>Garamond</vt:lpstr>
      <vt:lpstr>Wingdings</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Ndi Jeff</dc:creator>
  <cp:lastModifiedBy>Ndi Jeff</cp:lastModifiedBy>
  <cp:revision>4</cp:revision>
  <dcterms:created xsi:type="dcterms:W3CDTF">2026-03-04T09:36:12Z</dcterms:created>
  <dcterms:modified xsi:type="dcterms:W3CDTF">2026-03-05T09:26:17Z</dcterms:modified>
</cp:coreProperties>
</file>